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2" r:id="rId34"/>
    <p:sldId id="293" r:id="rId35"/>
  </p:sldIdLst>
  <p:sldSz cx="9361170" cy="5400675"/>
  <p:notesSz cx="9144000" cy="6858000"/>
  <p:defaultTextStyle>
    <a:defPPr>
      <a:defRPr lang="en-US"/>
    </a:defPPr>
    <a:lvl1pPr marL="0" algn="l" defTabSz="944880" rtl="0" eaLnBrk="1" latinLnBrk="0" hangingPunct="1">
      <a:defRPr sz="1900" kern="1200">
        <a:solidFill>
          <a:schemeClr val="tx1"/>
        </a:solidFill>
        <a:latin typeface="+mn-lt"/>
        <a:ea typeface="+mn-ea"/>
        <a:cs typeface="+mn-cs"/>
      </a:defRPr>
    </a:lvl1pPr>
    <a:lvl2pPr marL="472440" algn="l" defTabSz="944880" rtl="0" eaLnBrk="1" latinLnBrk="0" hangingPunct="1">
      <a:defRPr sz="1900" kern="1200">
        <a:solidFill>
          <a:schemeClr val="tx1"/>
        </a:solidFill>
        <a:latin typeface="+mn-lt"/>
        <a:ea typeface="+mn-ea"/>
        <a:cs typeface="+mn-cs"/>
      </a:defRPr>
    </a:lvl2pPr>
    <a:lvl3pPr marL="944880" algn="l" defTabSz="944880" rtl="0" eaLnBrk="1" latinLnBrk="0" hangingPunct="1">
      <a:defRPr sz="1900" kern="1200">
        <a:solidFill>
          <a:schemeClr val="tx1"/>
        </a:solidFill>
        <a:latin typeface="+mn-lt"/>
        <a:ea typeface="+mn-ea"/>
        <a:cs typeface="+mn-cs"/>
      </a:defRPr>
    </a:lvl3pPr>
    <a:lvl4pPr marL="1417320" algn="l" defTabSz="944880" rtl="0" eaLnBrk="1" latinLnBrk="0" hangingPunct="1">
      <a:defRPr sz="1900" kern="1200">
        <a:solidFill>
          <a:schemeClr val="tx1"/>
        </a:solidFill>
        <a:latin typeface="+mn-lt"/>
        <a:ea typeface="+mn-ea"/>
        <a:cs typeface="+mn-cs"/>
      </a:defRPr>
    </a:lvl4pPr>
    <a:lvl5pPr marL="1889760" algn="l" defTabSz="944880" rtl="0" eaLnBrk="1" latinLnBrk="0" hangingPunct="1">
      <a:defRPr sz="1900" kern="1200">
        <a:solidFill>
          <a:schemeClr val="tx1"/>
        </a:solidFill>
        <a:latin typeface="+mn-lt"/>
        <a:ea typeface="+mn-ea"/>
        <a:cs typeface="+mn-cs"/>
      </a:defRPr>
    </a:lvl5pPr>
    <a:lvl6pPr marL="2362200" algn="l" defTabSz="944880" rtl="0" eaLnBrk="1" latinLnBrk="0" hangingPunct="1">
      <a:defRPr sz="1900" kern="1200">
        <a:solidFill>
          <a:schemeClr val="tx1"/>
        </a:solidFill>
        <a:latin typeface="+mn-lt"/>
        <a:ea typeface="+mn-ea"/>
        <a:cs typeface="+mn-cs"/>
      </a:defRPr>
    </a:lvl6pPr>
    <a:lvl7pPr marL="2834005" algn="l" defTabSz="944880" rtl="0" eaLnBrk="1" latinLnBrk="0" hangingPunct="1">
      <a:defRPr sz="1900" kern="1200">
        <a:solidFill>
          <a:schemeClr val="tx1"/>
        </a:solidFill>
        <a:latin typeface="+mn-lt"/>
        <a:ea typeface="+mn-ea"/>
        <a:cs typeface="+mn-cs"/>
      </a:defRPr>
    </a:lvl7pPr>
    <a:lvl8pPr marL="3306445" algn="l" defTabSz="944880" rtl="0" eaLnBrk="1" latinLnBrk="0" hangingPunct="1">
      <a:defRPr sz="1900" kern="1200">
        <a:solidFill>
          <a:schemeClr val="tx1"/>
        </a:solidFill>
        <a:latin typeface="+mn-lt"/>
        <a:ea typeface="+mn-ea"/>
        <a:cs typeface="+mn-cs"/>
      </a:defRPr>
    </a:lvl8pPr>
    <a:lvl9pPr marL="3778885" algn="l" defTabSz="94488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01" userDrawn="1">
          <p15:clr>
            <a:srgbClr val="A4A3A4"/>
          </p15:clr>
        </p15:guide>
        <p15:guide id="2" pos="29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28058980" name="BOSONGOKISII TV" initials="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9" autoAdjust="0"/>
  </p:normalViewPr>
  <p:slideViewPr>
    <p:cSldViewPr>
      <p:cViewPr>
        <p:scale>
          <a:sx n="100" d="100"/>
          <a:sy n="100" d="100"/>
        </p:scale>
        <p:origin x="-1038" y="-270"/>
      </p:cViewPr>
      <p:guideLst>
        <p:guide orient="horz" pos="1701"/>
        <p:guide pos="2938"/>
      </p:guideLst>
    </p:cSldViewPr>
  </p:slideViewPr>
  <p:outlineViewPr>
    <p:cViewPr>
      <p:scale>
        <a:sx n="33" d="100"/>
        <a:sy n="33" d="100"/>
      </p:scale>
      <p:origin x="66"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32068" y="1080135"/>
            <a:ext cx="8425339" cy="1440180"/>
          </a:xfrm>
        </p:spPr>
        <p:txBody>
          <a:bodyPr vert="horz" lIns="47238" tIns="0" rIns="47238" bIns="0" anchor="b">
            <a:normAutofit/>
            <a:scene3d>
              <a:camera prst="orthographicFront"/>
              <a:lightRig rig="soft" dir="t">
                <a:rot lat="0" lon="0" rev="17220000"/>
              </a:lightRig>
            </a:scene3d>
            <a:sp3d prstMaterial="softEdge">
              <a:bevelT w="38100" h="38100"/>
            </a:sp3d>
          </a:bodyPr>
          <a:lstStyle>
            <a:lvl1pPr>
              <a:defRPr sz="50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32C8B7EF-F43F-498F-9D0C-81AE466332C5}"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0F4F6513-C9A5-4491-876A-A5EFB01B1059}" type="slidenum">
              <a:rPr lang="en-US" smtClean="0"/>
            </a:fld>
            <a:endParaRPr lang="en-US"/>
          </a:p>
        </p:txBody>
      </p:sp>
      <p:sp>
        <p:nvSpPr>
          <p:cNvPr id="9" name="Subtitle 8"/>
          <p:cNvSpPr>
            <a:spLocks noGrp="1"/>
          </p:cNvSpPr>
          <p:nvPr>
            <p:ph type="subTitle" idx="1"/>
          </p:nvPr>
        </p:nvSpPr>
        <p:spPr>
          <a:xfrm>
            <a:off x="1404223" y="2623712"/>
            <a:ext cx="6553042" cy="1380173"/>
          </a:xfrm>
        </p:spPr>
        <p:txBody>
          <a:bodyPr/>
          <a:lstStyle>
            <a:lvl1pPr marL="0" indent="0" algn="ctr">
              <a:buNone/>
              <a:defRPr>
                <a:solidFill>
                  <a:schemeClr val="tx1"/>
                </a:solidFill>
              </a:defRPr>
            </a:lvl1pPr>
            <a:lvl2pPr marL="472440" indent="0" algn="ctr">
              <a:buNone/>
            </a:lvl2pPr>
            <a:lvl3pPr marL="944880" indent="0" algn="ctr">
              <a:buNone/>
            </a:lvl3pPr>
            <a:lvl4pPr marL="1417320" indent="0" algn="ctr">
              <a:buNone/>
            </a:lvl4pPr>
            <a:lvl5pPr marL="1889760" indent="0" algn="ctr">
              <a:buNone/>
            </a:lvl5pPr>
            <a:lvl6pPr marL="2362200" indent="0" algn="ctr">
              <a:buNone/>
            </a:lvl6pPr>
            <a:lvl7pPr marL="2834005" indent="0" algn="ctr">
              <a:buNone/>
            </a:lvl7pPr>
            <a:lvl8pPr marL="3306445" indent="0" algn="ctr">
              <a:buNone/>
            </a:lvl8pPr>
            <a:lvl9pPr marL="3778885"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2C8B7EF-F43F-498F-9D0C-81AE466332C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38261" y="480060"/>
            <a:ext cx="7255153" cy="144018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50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38261" y="1974882"/>
            <a:ext cx="7255153" cy="1188898"/>
          </a:xfrm>
        </p:spPr>
        <p:txBody>
          <a:bodyPr anchor="t"/>
          <a:lstStyle>
            <a:lvl1pPr marL="75565" indent="0" algn="l">
              <a:buNone/>
              <a:defRPr sz="2100">
                <a:solidFill>
                  <a:schemeClr val="tx1"/>
                </a:solidFill>
              </a:defRPr>
            </a:lvl1pPr>
            <a:lvl2pPr>
              <a:buNone/>
              <a:defRPr sz="1900">
                <a:solidFill>
                  <a:schemeClr val="tx1">
                    <a:tint val="75000"/>
                  </a:schemeClr>
                </a:solidFill>
              </a:defRPr>
            </a:lvl2pPr>
            <a:lvl3pPr>
              <a:buNone/>
              <a:defRPr sz="17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32C8B7EF-F43F-498F-9D0C-81AE466332C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13290" y="5053132"/>
            <a:ext cx="780124" cy="287536"/>
          </a:xfrm>
        </p:spPr>
        <p:txBody>
          <a:bodyPr/>
          <a:lstStyle/>
          <a:p>
            <a:fld id="{0F4F6513-C9A5-4491-876A-A5EFB01B1059}"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68075" y="1260158"/>
            <a:ext cx="4134657" cy="3564196"/>
          </a:xfrm>
        </p:spPr>
        <p:txBody>
          <a:bodyPr/>
          <a:lstStyle>
            <a:lvl1pPr>
              <a:defRPr sz="2700"/>
            </a:lvl1pPr>
            <a:lvl2pPr>
              <a:defRPr sz="2500"/>
            </a:lvl2pPr>
            <a:lvl3pPr>
              <a:defRPr sz="2100"/>
            </a:lvl3pPr>
            <a:lvl4pPr>
              <a:defRPr sz="1900"/>
            </a:lvl4pPr>
            <a:lvl5pPr>
              <a:defRPr sz="19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8757" y="1260158"/>
            <a:ext cx="4134657" cy="3564196"/>
          </a:xfrm>
        </p:spPr>
        <p:txBody>
          <a:bodyPr/>
          <a:lstStyle>
            <a:lvl1pPr>
              <a:defRPr sz="2700"/>
            </a:lvl1pPr>
            <a:lvl2pPr>
              <a:defRPr sz="2500"/>
            </a:lvl2pPr>
            <a:lvl3pPr>
              <a:defRPr sz="2100"/>
            </a:lvl3pPr>
            <a:lvl4pPr>
              <a:defRPr sz="1900"/>
            </a:lvl4pPr>
            <a:lvl5pPr>
              <a:defRPr sz="19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2C8B7EF-F43F-498F-9D0C-81AE466332C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68075" y="215027"/>
            <a:ext cx="8425339" cy="900113"/>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68074" y="1208902"/>
            <a:ext cx="4136283" cy="591323"/>
          </a:xfrm>
        </p:spPr>
        <p:txBody>
          <a:bodyPr anchor="ctr"/>
          <a:lstStyle>
            <a:lvl1pPr marL="0" indent="0">
              <a:buNone/>
              <a:defRPr sz="2500" b="0" cap="all" baseline="0">
                <a:solidFill>
                  <a:schemeClr val="tx1"/>
                </a:solidFill>
              </a:defRPr>
            </a:lvl1pPr>
            <a:lvl2pPr>
              <a:buNone/>
              <a:defRPr sz="2100" b="1"/>
            </a:lvl2pPr>
            <a:lvl3pPr>
              <a:buNone/>
              <a:defRPr sz="1900" b="1"/>
            </a:lvl3pPr>
            <a:lvl4pPr>
              <a:buNone/>
              <a:defRPr sz="1700" b="1"/>
            </a:lvl4pPr>
            <a:lvl5pPr>
              <a:buNone/>
              <a:defRPr sz="17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755507" y="1208902"/>
            <a:ext cx="4137908" cy="591323"/>
          </a:xfrm>
        </p:spPr>
        <p:txBody>
          <a:bodyPr anchor="ctr"/>
          <a:lstStyle>
            <a:lvl1pPr marL="0" indent="0">
              <a:buNone/>
              <a:defRPr sz="2500" b="0" cap="all" baseline="0">
                <a:solidFill>
                  <a:schemeClr val="tx1"/>
                </a:solidFill>
              </a:defRPr>
            </a:lvl1pPr>
            <a:lvl2pPr>
              <a:buNone/>
              <a:defRPr sz="2100" b="1"/>
            </a:lvl2pPr>
            <a:lvl3pPr>
              <a:buNone/>
              <a:defRPr sz="1900" b="1"/>
            </a:lvl3pPr>
            <a:lvl4pPr>
              <a:buNone/>
              <a:defRPr sz="1700" b="1"/>
            </a:lvl4pPr>
            <a:lvl5pPr>
              <a:buNone/>
              <a:defRPr sz="17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68074" y="1860233"/>
            <a:ext cx="4136283" cy="2964121"/>
          </a:xfrm>
        </p:spPr>
        <p:txBody>
          <a:bodyPr/>
          <a:lstStyle>
            <a:lvl1pPr>
              <a:defRPr sz="2500"/>
            </a:lvl1pPr>
            <a:lvl2pPr>
              <a:defRPr sz="2100"/>
            </a:lvl2pPr>
            <a:lvl3pPr>
              <a:defRPr sz="1900"/>
            </a:lvl3pPr>
            <a:lvl4pPr>
              <a:defRPr sz="1700"/>
            </a:lvl4pPr>
            <a:lvl5pPr>
              <a:defRPr sz="17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55507" y="1860233"/>
            <a:ext cx="4137908" cy="2964121"/>
          </a:xfrm>
        </p:spPr>
        <p:txBody>
          <a:bodyPr/>
          <a:lstStyle>
            <a:lvl1pPr>
              <a:defRPr sz="2500"/>
            </a:lvl1pPr>
            <a:lvl2pPr>
              <a:defRPr sz="2100"/>
            </a:lvl2pPr>
            <a:lvl3pPr>
              <a:defRPr sz="1900"/>
            </a:lvl3pPr>
            <a:lvl4pPr>
              <a:defRPr sz="1700"/>
            </a:lvl4pPr>
            <a:lvl5pPr>
              <a:defRPr sz="17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2C8B7EF-F43F-498F-9D0C-81AE466332C5}"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2C8B7EF-F43F-498F-9D0C-81AE466332C5}"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C8B7EF-F43F-498F-9D0C-81AE466332C5}"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68076" y="215026"/>
            <a:ext cx="3079865" cy="915115"/>
          </a:xfrm>
        </p:spPr>
        <p:txBody>
          <a:bodyPr vert="horz" anchor="b">
            <a:normAutofit/>
            <a:sp3d prstMaterial="softEdge"/>
          </a:bodyPr>
          <a:lstStyle>
            <a:lvl1pPr algn="l">
              <a:buNone/>
              <a:defRPr sz="23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68076" y="1200151"/>
            <a:ext cx="3079865" cy="362420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3660082" y="215028"/>
            <a:ext cx="5233332" cy="4609327"/>
          </a:xfrm>
        </p:spPr>
        <p:txBody>
          <a:bodyPr/>
          <a:lstStyle>
            <a:lvl1pPr>
              <a:defRPr sz="2700"/>
            </a:lvl1pPr>
            <a:lvl2pPr>
              <a:defRPr sz="2500"/>
            </a:lvl2pPr>
            <a:lvl3pPr>
              <a:defRPr sz="2300"/>
            </a:lvl3pPr>
            <a:lvl4pPr>
              <a:defRPr sz="2100"/>
            </a:lvl4pPr>
            <a:lvl5pPr>
              <a:defRPr sz="19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2C8B7EF-F43F-498F-9D0C-81AE466332C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72298" y="480060"/>
            <a:ext cx="5616893" cy="411302"/>
          </a:xfrm>
        </p:spPr>
        <p:txBody>
          <a:bodyPr lIns="47238" rIns="47238" bIns="0" anchor="b">
            <a:sp3d prstMaterial="softEdge"/>
          </a:bodyPr>
          <a:lstStyle>
            <a:lvl1pPr algn="ctr">
              <a:buNone/>
              <a:defRPr sz="21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72298" y="1442680"/>
            <a:ext cx="5616893" cy="312039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marL="0" indent="0" algn="l" rtl="0" eaLnBrk="1" latinLnBrk="0" hangingPunct="1">
              <a:buNone/>
              <a:defRPr sz="33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72298" y="918845"/>
            <a:ext cx="5616893" cy="417652"/>
          </a:xfrm>
        </p:spPr>
        <p:txBody>
          <a:bodyPr lIns="47238" tIns="47238" rIns="47238"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32C8B7EF-F43F-498F-9D0C-81AE466332C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2C8B7EF-F43F-498F-9D0C-81AE466332C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7079" y="216278"/>
            <a:ext cx="2106335" cy="4608076"/>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68074" y="216278"/>
            <a:ext cx="6162980" cy="4608076"/>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2C8B7EF-F43F-498F-9D0C-81AE466332C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2C8B7EF-F43F-498F-9D0C-81AE466332C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4F6513-C9A5-4491-876A-A5EFB01B105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68075" y="216278"/>
            <a:ext cx="8425339" cy="900113"/>
          </a:xfrm>
          <a:prstGeom prst="rect">
            <a:avLst/>
          </a:prstGeom>
        </p:spPr>
        <p:txBody>
          <a:bodyPr vert="horz" lIns="94476" tIns="47238" rIns="94476" bIns="47238"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68075" y="1260157"/>
            <a:ext cx="8425339" cy="3708464"/>
          </a:xfrm>
          <a:prstGeom prst="rect">
            <a:avLst/>
          </a:prstGeom>
        </p:spPr>
        <p:txBody>
          <a:bodyPr vert="horz" lIns="94476" tIns="47238" rIns="94476" bIns="47238">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68075" y="5053132"/>
            <a:ext cx="2184347" cy="287536"/>
          </a:xfrm>
          <a:prstGeom prst="rect">
            <a:avLst/>
          </a:prstGeom>
        </p:spPr>
        <p:txBody>
          <a:bodyPr vert="horz" lIns="94476" tIns="47238" rIns="94476" bIns="47238" anchor="b"/>
          <a:lstStyle>
            <a:lvl1pPr algn="l" eaLnBrk="1" latinLnBrk="0" hangingPunct="1">
              <a:defRPr kumimoji="0" sz="1200">
                <a:solidFill>
                  <a:schemeClr val="tx1">
                    <a:shade val="50000"/>
                  </a:schemeClr>
                </a:solidFill>
              </a:defRPr>
            </a:lvl1pPr>
          </a:lstStyle>
          <a:p>
            <a:fld id="{32C8B7EF-F43F-498F-9D0C-81AE466332C5}" type="datetimeFigureOut">
              <a:rPr lang="en-US" smtClean="0"/>
            </a:fld>
            <a:endParaRPr lang="en-US"/>
          </a:p>
        </p:txBody>
      </p:sp>
      <p:sp>
        <p:nvSpPr>
          <p:cNvPr id="3" name="Footer Placeholder 2"/>
          <p:cNvSpPr>
            <a:spLocks noGrp="1"/>
          </p:cNvSpPr>
          <p:nvPr>
            <p:ph type="ftr" sz="quarter" idx="3"/>
          </p:nvPr>
        </p:nvSpPr>
        <p:spPr>
          <a:xfrm>
            <a:off x="3198509" y="5053132"/>
            <a:ext cx="2964471" cy="287536"/>
          </a:xfrm>
          <a:prstGeom prst="rect">
            <a:avLst/>
          </a:prstGeom>
        </p:spPr>
        <p:txBody>
          <a:bodyPr vert="horz" lIns="94476" tIns="47238" rIns="94476" bIns="47238"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8113290" y="5053132"/>
            <a:ext cx="780124" cy="287536"/>
          </a:xfrm>
          <a:prstGeom prst="rect">
            <a:avLst/>
          </a:prstGeom>
        </p:spPr>
        <p:txBody>
          <a:bodyPr vert="horz" lIns="0" tIns="47238" rIns="0" bIns="47238" anchor="b"/>
          <a:lstStyle>
            <a:lvl1pPr algn="r" eaLnBrk="1" latinLnBrk="0" hangingPunct="1">
              <a:defRPr kumimoji="0" sz="1200">
                <a:solidFill>
                  <a:schemeClr val="tx1">
                    <a:shade val="50000"/>
                  </a:schemeClr>
                </a:solidFill>
              </a:defRPr>
            </a:lvl1pPr>
          </a:lstStyle>
          <a:p>
            <a:fld id="{0F4F6513-C9A5-4491-876A-A5EFB01B1059}"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2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67055" indent="-425450" algn="l" rtl="0" eaLnBrk="1" latinLnBrk="0" hangingPunct="1">
        <a:spcBef>
          <a:spcPct val="20000"/>
        </a:spcBef>
        <a:buClr>
          <a:schemeClr val="tx1">
            <a:shade val="95000"/>
          </a:schemeClr>
        </a:buClr>
        <a:buSzPct val="65000"/>
        <a:buFont typeface="Wingdings 2" panose="05020102010507070707"/>
        <a:buChar char=""/>
        <a:defRPr kumimoji="0" sz="2900" kern="1200">
          <a:solidFill>
            <a:schemeClr val="tx1"/>
          </a:solidFill>
          <a:latin typeface="+mn-lt"/>
          <a:ea typeface="+mn-ea"/>
          <a:cs typeface="+mn-cs"/>
        </a:defRPr>
      </a:lvl1pPr>
      <a:lvl2pPr marL="897255" indent="-292735" algn="l" rtl="0" eaLnBrk="1" latinLnBrk="0" hangingPunct="1">
        <a:spcBef>
          <a:spcPct val="20000"/>
        </a:spcBef>
        <a:buClr>
          <a:schemeClr val="tx1"/>
        </a:buClr>
        <a:buSzPct val="80000"/>
        <a:buFont typeface="Wingdings 2" panose="05020102010507070707"/>
        <a:buChar char=""/>
        <a:defRPr kumimoji="0" sz="2500" kern="1200">
          <a:solidFill>
            <a:schemeClr val="tx1"/>
          </a:solidFill>
          <a:latin typeface="+mn-lt"/>
          <a:ea typeface="+mn-ea"/>
          <a:cs typeface="+mn-cs"/>
        </a:defRPr>
      </a:lvl2pPr>
      <a:lvl3pPr marL="1171575" indent="-236220" algn="l" rtl="0" eaLnBrk="1" latinLnBrk="0" hangingPunct="1">
        <a:spcBef>
          <a:spcPct val="20000"/>
        </a:spcBef>
        <a:buClr>
          <a:schemeClr val="tx1"/>
        </a:buClr>
        <a:buSzPct val="95000"/>
        <a:buFont typeface="Wingdings" panose="05000000000000000000"/>
        <a:buChar char=""/>
        <a:defRPr kumimoji="0" sz="2300" kern="1200">
          <a:solidFill>
            <a:schemeClr val="tx1"/>
          </a:solidFill>
          <a:latin typeface="+mn-lt"/>
          <a:ea typeface="+mn-ea"/>
          <a:cs typeface="+mn-cs"/>
        </a:defRPr>
      </a:lvl3pPr>
      <a:lvl4pPr marL="1398270" indent="-189230" algn="l" rtl="0" eaLnBrk="1" latinLnBrk="0" hangingPunct="1">
        <a:spcBef>
          <a:spcPct val="20000"/>
        </a:spcBef>
        <a:buClr>
          <a:schemeClr val="tx1"/>
        </a:buClr>
        <a:buSzPct val="100000"/>
        <a:buFont typeface="Wingdings 3" panose="05040102010807070707"/>
        <a:buChar char=""/>
        <a:defRPr kumimoji="0" sz="2100" kern="1200">
          <a:solidFill>
            <a:schemeClr val="tx1"/>
          </a:solidFill>
          <a:latin typeface="+mn-lt"/>
          <a:ea typeface="+mn-ea"/>
          <a:cs typeface="+mn-cs"/>
        </a:defRPr>
      </a:lvl4pPr>
      <a:lvl5pPr marL="1596390" indent="-189230" algn="l" rtl="0" eaLnBrk="1" latinLnBrk="0" hangingPunct="1">
        <a:spcBef>
          <a:spcPct val="20000"/>
        </a:spcBef>
        <a:buClr>
          <a:schemeClr val="tx1"/>
        </a:buClr>
        <a:buFont typeface="Wingdings 2" panose="05020102010507070707"/>
        <a:buChar char=""/>
        <a:defRPr kumimoji="0" sz="2100" kern="1200">
          <a:solidFill>
            <a:schemeClr val="tx1"/>
          </a:solidFill>
          <a:latin typeface="+mn-lt"/>
          <a:ea typeface="+mn-ea"/>
          <a:cs typeface="+mn-cs"/>
        </a:defRPr>
      </a:lvl5pPr>
      <a:lvl6pPr marL="1823085" indent="-189230" algn="l" rtl="0" eaLnBrk="1" latinLnBrk="0" hangingPunct="1">
        <a:spcBef>
          <a:spcPct val="20000"/>
        </a:spcBef>
        <a:buClr>
          <a:schemeClr val="tx1"/>
        </a:buClr>
        <a:buFont typeface="Wingdings 3" panose="05040102010807070707"/>
        <a:buChar char=""/>
        <a:defRPr kumimoji="0" sz="1900" kern="1200">
          <a:solidFill>
            <a:schemeClr val="tx1"/>
          </a:solidFill>
          <a:latin typeface="+mn-lt"/>
          <a:ea typeface="+mn-ea"/>
          <a:cs typeface="+mn-cs"/>
        </a:defRPr>
      </a:lvl6pPr>
      <a:lvl7pPr marL="2031365" indent="-189230" algn="l" rtl="0" eaLnBrk="1" latinLnBrk="0" hangingPunct="1">
        <a:spcBef>
          <a:spcPct val="20000"/>
        </a:spcBef>
        <a:buClr>
          <a:schemeClr val="tx1"/>
        </a:buClr>
        <a:buFont typeface="Wingdings 2" panose="05020102010507070707"/>
        <a:buChar char=""/>
        <a:defRPr kumimoji="0" sz="1700" kern="1200">
          <a:solidFill>
            <a:schemeClr val="tx1"/>
          </a:solidFill>
          <a:latin typeface="+mn-lt"/>
          <a:ea typeface="+mn-ea"/>
          <a:cs typeface="+mn-cs"/>
        </a:defRPr>
      </a:lvl7pPr>
      <a:lvl8pPr marL="2239010" indent="-189230" algn="l" rtl="0" eaLnBrk="1" latinLnBrk="0" hangingPunct="1">
        <a:spcBef>
          <a:spcPct val="20000"/>
        </a:spcBef>
        <a:buClr>
          <a:schemeClr val="tx1"/>
        </a:buClr>
        <a:buFont typeface="Wingdings 2" panose="05020102010507070707"/>
        <a:buChar char=""/>
        <a:defRPr kumimoji="0" sz="1400" kern="1200">
          <a:solidFill>
            <a:schemeClr val="tx1"/>
          </a:solidFill>
          <a:latin typeface="+mn-lt"/>
          <a:ea typeface="+mn-ea"/>
          <a:cs typeface="+mn-cs"/>
        </a:defRPr>
      </a:lvl8pPr>
      <a:lvl9pPr marL="2446655" indent="-189230" algn="l" rtl="0" eaLnBrk="1" latinLnBrk="0" hangingPunct="1">
        <a:spcBef>
          <a:spcPct val="20000"/>
        </a:spcBef>
        <a:buClr>
          <a:schemeClr val="tx1"/>
        </a:buClr>
        <a:buFont typeface="Wingdings 2" panose="05020102010507070707"/>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72440" algn="l" rtl="0" eaLnBrk="1" latinLnBrk="0" hangingPunct="1">
        <a:defRPr kumimoji="0" kern="1200">
          <a:solidFill>
            <a:schemeClr val="tx1"/>
          </a:solidFill>
          <a:latin typeface="+mn-lt"/>
          <a:ea typeface="+mn-ea"/>
          <a:cs typeface="+mn-cs"/>
        </a:defRPr>
      </a:lvl2pPr>
      <a:lvl3pPr marL="944880" algn="l" rtl="0" eaLnBrk="1" latinLnBrk="0" hangingPunct="1">
        <a:defRPr kumimoji="0" kern="1200">
          <a:solidFill>
            <a:schemeClr val="tx1"/>
          </a:solidFill>
          <a:latin typeface="+mn-lt"/>
          <a:ea typeface="+mn-ea"/>
          <a:cs typeface="+mn-cs"/>
        </a:defRPr>
      </a:lvl3pPr>
      <a:lvl4pPr marL="1417320" algn="l" rtl="0" eaLnBrk="1" latinLnBrk="0" hangingPunct="1">
        <a:defRPr kumimoji="0" kern="1200">
          <a:solidFill>
            <a:schemeClr val="tx1"/>
          </a:solidFill>
          <a:latin typeface="+mn-lt"/>
          <a:ea typeface="+mn-ea"/>
          <a:cs typeface="+mn-cs"/>
        </a:defRPr>
      </a:lvl4pPr>
      <a:lvl5pPr marL="1889760" algn="l" rtl="0" eaLnBrk="1" latinLnBrk="0" hangingPunct="1">
        <a:defRPr kumimoji="0" kern="1200">
          <a:solidFill>
            <a:schemeClr val="tx1"/>
          </a:solidFill>
          <a:latin typeface="+mn-lt"/>
          <a:ea typeface="+mn-ea"/>
          <a:cs typeface="+mn-cs"/>
        </a:defRPr>
      </a:lvl5pPr>
      <a:lvl6pPr marL="2362200" algn="l" rtl="0" eaLnBrk="1" latinLnBrk="0" hangingPunct="1">
        <a:defRPr kumimoji="0" kern="1200">
          <a:solidFill>
            <a:schemeClr val="tx1"/>
          </a:solidFill>
          <a:latin typeface="+mn-lt"/>
          <a:ea typeface="+mn-ea"/>
          <a:cs typeface="+mn-cs"/>
        </a:defRPr>
      </a:lvl6pPr>
      <a:lvl7pPr marL="2834005" algn="l" rtl="0" eaLnBrk="1" latinLnBrk="0" hangingPunct="1">
        <a:defRPr kumimoji="0" kern="1200">
          <a:solidFill>
            <a:schemeClr val="tx1"/>
          </a:solidFill>
          <a:latin typeface="+mn-lt"/>
          <a:ea typeface="+mn-ea"/>
          <a:cs typeface="+mn-cs"/>
        </a:defRPr>
      </a:lvl7pPr>
      <a:lvl8pPr marL="3306445" algn="l" rtl="0" eaLnBrk="1" latinLnBrk="0" hangingPunct="1">
        <a:defRPr kumimoji="0" kern="1200">
          <a:solidFill>
            <a:schemeClr val="tx1"/>
          </a:solidFill>
          <a:latin typeface="+mn-lt"/>
          <a:ea typeface="+mn-ea"/>
          <a:cs typeface="+mn-cs"/>
        </a:defRPr>
      </a:lvl8pPr>
      <a:lvl9pPr marL="3778885"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body" idx="1"/>
          </p:nvPr>
        </p:nvSpPr>
        <p:spPr>
          <a:xfrm>
            <a:off x="256791" y="375051"/>
            <a:ext cx="8425339" cy="5025624"/>
          </a:xfrm>
          <a:solidFill>
            <a:schemeClr val="bg1"/>
          </a:solidFill>
        </p:spPr>
        <p:txBody>
          <a:bodyPr>
            <a:normAutofit/>
          </a:bodyPr>
          <a:lstStyle/>
          <a:p>
            <a:pPr marL="0" indent="0" algn="ctr">
              <a:buNone/>
            </a:pPr>
            <a:endParaRPr lang="en-US" b="1" dirty="0" smtClean="0"/>
          </a:p>
          <a:p>
            <a:pPr marL="0" indent="0" algn="ctr">
              <a:buNone/>
            </a:pPr>
            <a:endParaRPr lang="en-US" b="1" dirty="0"/>
          </a:p>
          <a:p>
            <a:pPr marL="0" indent="0" algn="ctr">
              <a:buNone/>
            </a:pPr>
            <a:r>
              <a:rPr lang="en-US" b="1" dirty="0" smtClean="0"/>
              <a:t>DOMESTIC </a:t>
            </a:r>
            <a:r>
              <a:rPr lang="en-US" b="1" dirty="0"/>
              <a:t>CHORES AND GIRLS’ DROPOUT RATE IN PUBLIC JUNIOR SCHOOLS IN LAGDERA SUB-COUNTY, KENYA</a:t>
            </a:r>
            <a:r>
              <a:rPr lang="en-US" b="1" dirty="0" smtClean="0"/>
              <a:t>.</a:t>
            </a:r>
            <a:endParaRPr lang="en-US" b="1" dirty="0" smtClean="0"/>
          </a:p>
          <a:p>
            <a:pPr marL="0" indent="0" algn="ctr">
              <a:buNone/>
            </a:pPr>
            <a:endParaRPr lang="en-US" b="1" dirty="0"/>
          </a:p>
          <a:p>
            <a:pPr marL="0" indent="0" algn="ctr">
              <a:buNone/>
            </a:pPr>
            <a:r>
              <a:rPr lang="en-US" b="1" dirty="0"/>
              <a:t>PATRICK SAITOTI NYAKORA</a:t>
            </a:r>
            <a:endParaRPr lang="en-US" b="1" dirty="0"/>
          </a:p>
          <a:p>
            <a:pPr marL="0" indent="0" algn="ctr">
              <a:buNone/>
            </a:pPr>
            <a:r>
              <a:rPr lang="en-US" dirty="0"/>
              <a:t>E301/P2783/24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box(in)">
                                      <p:cBhvr>
                                        <p:cTn id="7" dur="2000"/>
                                        <p:tgtEl>
                                          <p:spTgt spid="7">
                                            <p:bg/>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box(in)">
                                      <p:cBhvr>
                                        <p:cTn id="12" dur="20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box(in)">
                                      <p:cBhvr>
                                        <p:cTn id="17" dur="20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box(in)">
                                      <p:cBhvr>
                                        <p:cTn id="22" dur="20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build="p"/>
      <p:bldP spid="7" grpId="1" animBg="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5984" y="-1722754"/>
            <a:ext cx="9299398" cy="6407812"/>
          </a:xfrm>
          <a:solidFill>
            <a:schemeClr val="bg1"/>
          </a:solidFill>
        </p:spPr>
        <p:txBody>
          <a:bodyPr>
            <a:normAutofit/>
          </a:bodyPr>
          <a:lstStyle/>
          <a:p>
            <a:br>
              <a:rPr lang="en-US" sz="2500" dirty="0"/>
            </a:br>
            <a:br>
              <a:rPr lang="en-US" sz="2500" dirty="0"/>
            </a:br>
            <a:br>
              <a:rPr lang="en-US" sz="2500" dirty="0"/>
            </a:br>
            <a:br>
              <a:rPr lang="en-US" sz="2500" dirty="0"/>
            </a:br>
            <a:br>
              <a:rPr lang="en-US" sz="2500" dirty="0"/>
            </a:br>
            <a:r>
              <a:rPr lang="en-US" sz="2500" dirty="0"/>
              <a:t>A CONCEPT PAPER SUBMITTED TO THE SCHOOL OF EDUCATON, ARTS AND SOCIAL SCIENCES AS PART </a:t>
            </a:r>
            <a:br>
              <a:rPr lang="en-US" sz="2500" dirty="0"/>
            </a:br>
            <a:r>
              <a:rPr lang="en-US" sz="2500" dirty="0"/>
              <a:t>     OF THE REQUIREMENTS FOR THE CONFERMENT OF </a:t>
            </a:r>
            <a:br>
              <a:rPr lang="en-US" sz="2500" dirty="0"/>
            </a:br>
            <a:r>
              <a:rPr lang="en-US" sz="2500" dirty="0"/>
              <a:t>DEGREE OF MASTER OF EDUCATION IN </a:t>
            </a:r>
            <a:br>
              <a:rPr lang="en-US" sz="2500" dirty="0"/>
            </a:br>
            <a:r>
              <a:rPr lang="en-US" sz="2500" dirty="0"/>
              <a:t>CURRICULUM STUDIES,</a:t>
            </a:r>
            <a:br>
              <a:rPr lang="en-US" sz="2500" dirty="0"/>
            </a:br>
            <a:r>
              <a:rPr lang="en-US" sz="2500" dirty="0"/>
              <a:t>GARISSA UNIVERSITY</a:t>
            </a:r>
            <a:br>
              <a:rPr lang="en-US" sz="2500" dirty="0"/>
            </a:br>
            <a:br>
              <a:rPr lang="en-US" sz="2500" dirty="0"/>
            </a:br>
            <a:r>
              <a:rPr lang="en-US" sz="2500" dirty="0"/>
              <a:t>    FEBRUARY, 2026</a:t>
            </a:r>
            <a:br>
              <a:rPr lang="en-US" sz="2500" dirty="0"/>
            </a:br>
            <a:endParaRPr lang="en-US" sz="2500"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91848"/>
            <a:ext cx="8425339" cy="567063"/>
          </a:xfrm>
          <a:solidFill>
            <a:schemeClr val="bg1"/>
          </a:solidFill>
        </p:spPr>
        <p:txBody>
          <a:bodyPr>
            <a:normAutofit fontScale="90000"/>
          </a:bodyPr>
          <a:lstStyle/>
          <a:p>
            <a:r>
              <a:rPr lang="en-US" b="1" i="0" u="none" strike="noStrike" kern="2200" baseline="0" dirty="0" smtClean="0">
                <a:latin typeface="Times New Roman" panose="02020603050405020304"/>
              </a:rPr>
              <a:t>           Introduction</a:t>
            </a:r>
            <a:endParaRPr lang="zh-CN" alt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602205"/>
            <a:ext cx="8425339" cy="4593210"/>
          </a:xfrm>
          <a:solidFill>
            <a:schemeClr val="bg1"/>
          </a:solidFill>
        </p:spPr>
        <p:txBody>
          <a:bodyPr>
            <a:normAutofit fontScale="47500" lnSpcReduction="20000"/>
          </a:bodyPr>
          <a:lstStyle/>
          <a:p>
            <a:pPr marL="0" indent="0">
              <a:buNone/>
            </a:pPr>
            <a:r>
              <a:rPr lang="en-US" altLang="zh-CN" sz="3900" b="1" dirty="0">
                <a:latin typeface="Times New Roman" panose="02020603050405020304"/>
              </a:rPr>
              <a:t>In parts of Kenya that are arid and semi-arid in nature, such as </a:t>
            </a:r>
            <a:r>
              <a:rPr lang="en-US" altLang="zh-CN" sz="3900" b="1" dirty="0" err="1">
                <a:latin typeface="Times New Roman" panose="02020603050405020304"/>
              </a:rPr>
              <a:t>Lagdera</a:t>
            </a:r>
            <a:r>
              <a:rPr lang="en-US" altLang="zh-CN" sz="3900" b="1" dirty="0">
                <a:latin typeface="Times New Roman" panose="02020603050405020304"/>
              </a:rPr>
              <a:t> Sub-County, </a:t>
            </a:r>
            <a:r>
              <a:rPr lang="en-US" altLang="zh-CN" sz="3900" b="1" dirty="0" err="1">
                <a:latin typeface="Times New Roman" panose="02020603050405020304"/>
              </a:rPr>
              <a:t>Garissa</a:t>
            </a:r>
            <a:r>
              <a:rPr lang="en-US" altLang="zh-CN" sz="3900" b="1" dirty="0">
                <a:latin typeface="Times New Roman" panose="02020603050405020304"/>
              </a:rPr>
              <a:t> County, junior school girls have to shoulder a significantly greater amount of household work. This includes fetching of water, cooking, cleaning, taking care of children, and tending to livestock. This multi-tasking diminishes the girl's school attendance and hampers their concentration during lessons and their ability to do school work and homework. This in turn adversely impacts the girls academically and increases the likelihood of increased absenteeism, early marriage and then dropping out of school. While national and local education policies on the other hand aim to provide equal education opportunities to all children, the realities in many communities such as in </a:t>
            </a:r>
            <a:r>
              <a:rPr lang="en-US" altLang="zh-CN" sz="3900" b="1" dirty="0" err="1">
                <a:latin typeface="Times New Roman" panose="02020603050405020304"/>
              </a:rPr>
              <a:t>Lagdera</a:t>
            </a:r>
            <a:r>
              <a:rPr lang="en-US" altLang="zh-CN" sz="3900" b="1" dirty="0">
                <a:latin typeface="Times New Roman" panose="02020603050405020304"/>
              </a:rPr>
              <a:t> Sub-County seem to work in the opposite direction. Socio-economic forces along with deep-rooted cultural customs continue to place a greater valuing on domestic chores as opposed to education for girls contrary to well-meaning policies for gender balance in education. This discrepancy between demands at home and school hinders educational retention and success for girls.</a:t>
            </a:r>
            <a:r>
              <a:rPr lang="zh-CN" altLang="en-US" sz="3900" b="1" dirty="0">
                <a:latin typeface="Times New Roman" panose="02020603050405020304"/>
              </a:rPr>
              <a:t> </a:t>
            </a:r>
            <a:r>
              <a:rPr lang="en-US" altLang="zh-CN" sz="3900" b="1" dirty="0">
                <a:latin typeface="Times New Roman" panose="02020603050405020304"/>
              </a:rPr>
              <a:t>This is why the study aims to assess the extent of the domestic chore burden and dropout rate in junior school girls, analyzing the gaps in policy enforcement and the socio-cultural influences that make this issue persistently complex and entrenched in local contexts.</a:t>
            </a:r>
            <a:endParaRPr lang="en-US" altLang="zh-CN" sz="3900" b="1" dirty="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rmAutofit/>
          </a:bodyPr>
          <a:lstStyle/>
          <a:p>
            <a:r>
              <a:rPr lang="en-US" b="1" i="0" u="none" strike="noStrike" kern="2200" baseline="0" dirty="0" smtClean="0">
                <a:latin typeface="Times New Roman" panose="02020603050405020304"/>
              </a:rPr>
              <a:t>Background to the Study</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961345"/>
            <a:ext cx="8425339" cy="4234070"/>
          </a:xfrm>
          <a:solidFill>
            <a:schemeClr val="bg1"/>
          </a:solidFill>
        </p:spPr>
        <p:txBody>
          <a:bodyPr>
            <a:noAutofit/>
          </a:bodyPr>
          <a:lstStyle/>
          <a:p>
            <a:r>
              <a:rPr lang="en-US" altLang="zh-CN" sz="1700" b="1" dirty="0">
                <a:latin typeface="Times New Roman" panose="02020603050405020304"/>
              </a:rPr>
              <a:t>Education catalyzes social and economic development especially for girls from low-income families. In Kenya, policy frameworks like Free Primary Education and Subsidized Secondary Education have attempted to bridge the gender gap in education. In spite of these policies, there is still high dropout rate among girls from the arid and semi-arid areas like </a:t>
            </a:r>
            <a:r>
              <a:rPr lang="en-US" altLang="zh-CN" sz="1700" b="1" dirty="0" err="1">
                <a:latin typeface="Times New Roman" panose="02020603050405020304"/>
              </a:rPr>
              <a:t>Lagdera</a:t>
            </a:r>
            <a:r>
              <a:rPr lang="en-US" altLang="zh-CN" sz="1700" b="1" dirty="0">
                <a:latin typeface="Times New Roman" panose="02020603050405020304"/>
              </a:rPr>
              <a:t> Sub-County. One of the most contributing factors to this problem would be</a:t>
            </a:r>
            <a:r>
              <a:rPr lang="zh-CN" altLang="en-US" sz="1700" b="1" dirty="0">
                <a:latin typeface="Times New Roman" panose="02020603050405020304"/>
              </a:rPr>
              <a:t> </a:t>
            </a:r>
            <a:r>
              <a:rPr lang="en-US" altLang="zh-CN" sz="1700" b="1" dirty="0">
                <a:latin typeface="Times New Roman" panose="02020603050405020304"/>
              </a:rPr>
              <a:t>domestic workload of schooling age girls, which in turn, greatly hampers their schooling activities and achievements.  </a:t>
            </a:r>
            <a:endParaRPr lang="en-US" altLang="zh-CN" sz="1700" b="1" dirty="0">
              <a:latin typeface="Times New Roman" panose="02020603050405020304"/>
            </a:endParaRPr>
          </a:p>
          <a:p>
            <a:r>
              <a:rPr lang="en-US" altLang="zh-CN" sz="1700" b="1" dirty="0">
                <a:latin typeface="Times New Roman" panose="02020603050405020304"/>
              </a:rPr>
              <a:t>Culturally, girls are assigned responsibilities like fetching firewood, babysitting, laundry, and cooking. Although these chores are culturally appreciated, they directly detract from the much-needed time to study, lead to exhaustion, and impact their grades negatively. The sustained and overwhelming expectation of these chores perpetually entraps a multitude of girls into an educationally incomplete and low educationally-advanced, under-educated life. This problem is made worse by low parental awareness and minimal understanding of policies aimed at protecting children. This research, therefore, attempts to fill this gap by studying the impact of domestic chores on school dropout rate of girls in junior school.</a:t>
            </a:r>
            <a:endParaRPr lang="zh-CN" altLang="en-US" sz="1700" b="1" dirty="0">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129653"/>
            <a:ext cx="8425339" cy="698476"/>
          </a:xfrm>
        </p:spPr>
        <p:style>
          <a:lnRef idx="2">
            <a:schemeClr val="dk1">
              <a:shade val="50000"/>
            </a:schemeClr>
          </a:lnRef>
          <a:fillRef idx="1">
            <a:schemeClr val="dk1"/>
          </a:fillRef>
          <a:effectRef idx="0">
            <a:schemeClr val="dk1"/>
          </a:effectRef>
          <a:fontRef idx="minor">
            <a:schemeClr val="lt1"/>
          </a:fontRef>
        </p:style>
        <p:txBody>
          <a:bodyPr>
            <a:normAutofit fontScale="90000"/>
          </a:bodyPr>
          <a:lstStyle/>
          <a:p>
            <a:r>
              <a:rPr lang="en-US" b="1" i="0" u="none" strike="noStrike" kern="2200" baseline="0" dirty="0" smtClean="0">
                <a:latin typeface="Times New Roman" panose="02020603050405020304"/>
              </a:rPr>
              <a:t>Statement of the Problem</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504280" y="684113"/>
            <a:ext cx="8425339" cy="4460896"/>
          </a:xfrm>
        </p:spPr>
        <p:style>
          <a:lnRef idx="2">
            <a:schemeClr val="dk1">
              <a:shade val="50000"/>
            </a:schemeClr>
          </a:lnRef>
          <a:fillRef idx="1">
            <a:schemeClr val="dk1"/>
          </a:fillRef>
          <a:effectRef idx="0">
            <a:schemeClr val="dk1"/>
          </a:effectRef>
          <a:fontRef idx="minor">
            <a:schemeClr val="lt1"/>
          </a:fontRef>
        </p:style>
        <p:txBody>
          <a:bodyPr>
            <a:normAutofit fontScale="25000" lnSpcReduction="20000"/>
          </a:bodyPr>
          <a:lstStyle/>
          <a:p>
            <a:r>
              <a:rPr lang="en-US" altLang="zh-CN" sz="7400" b="1" dirty="0">
                <a:latin typeface="Times New Roman" panose="02020603050405020304"/>
              </a:rPr>
              <a:t>In </a:t>
            </a:r>
            <a:r>
              <a:rPr lang="en-US" altLang="zh-CN" sz="7400" b="1" dirty="0" err="1">
                <a:latin typeface="Times New Roman" panose="02020603050405020304"/>
              </a:rPr>
              <a:t>Lagdera</a:t>
            </a:r>
            <a:r>
              <a:rPr lang="en-US" altLang="zh-CN" sz="7400" b="1" dirty="0">
                <a:latin typeface="Times New Roman" panose="02020603050405020304"/>
              </a:rPr>
              <a:t> Sub-County many girls in junior schools are burdened with heavy domestic workloads which limit their opportunity for regular attendance at school and ultimately success. Chores such</a:t>
            </a:r>
            <a:r>
              <a:rPr lang="zh-CN" altLang="en-US" sz="7400" b="1" dirty="0">
                <a:latin typeface="Times New Roman" panose="02020603050405020304"/>
              </a:rPr>
              <a:t> </a:t>
            </a:r>
            <a:r>
              <a:rPr lang="en-US" altLang="zh-CN" sz="7400" b="1" dirty="0">
                <a:latin typeface="Times New Roman" panose="02020603050405020304"/>
              </a:rPr>
              <a:t>as collecting water, cooking, cleaning, babysitting siblings, fetching firewood, and taking care of animals take up valuable time and physical stamina that would be used for studying. After girls complete their chores, exhaustion, low self-esteem, absenteeism, poor school performance and achievements follow logically. </a:t>
            </a:r>
            <a:endParaRPr lang="en-US" altLang="zh-CN" sz="7400" b="1" dirty="0">
              <a:latin typeface="Times New Roman" panose="02020603050405020304"/>
            </a:endParaRPr>
          </a:p>
          <a:p>
            <a:r>
              <a:rPr lang="en-US" altLang="zh-CN" sz="7400" b="1" dirty="0">
                <a:latin typeface="Times New Roman" panose="02020603050405020304"/>
              </a:rPr>
              <a:t>In spite of government initiatives promoting girls' rights to education and girls' entitlement to education equally with boys, dropout rate for girls still seem to be alarmingly high in </a:t>
            </a:r>
            <a:r>
              <a:rPr lang="en-US" altLang="zh-CN" sz="7400" b="1" dirty="0" err="1">
                <a:latin typeface="Times New Roman" panose="02020603050405020304"/>
              </a:rPr>
              <a:t>Lagdera</a:t>
            </a:r>
            <a:r>
              <a:rPr lang="en-US" altLang="zh-CN" sz="7400" b="1" dirty="0">
                <a:latin typeface="Times New Roman" panose="02020603050405020304"/>
              </a:rPr>
              <a:t> Sub-County. Researchers have examined intensive qualitative research barriers to girls' educational achievement, many of which highlight access issues such as poverty and early marriage and early pregnancies; however, not specifically on how domestic chores shape school participation and performance within </a:t>
            </a:r>
            <a:r>
              <a:rPr lang="en-US" altLang="zh-CN" sz="7400" b="1" dirty="0" err="1">
                <a:latin typeface="Times New Roman" panose="02020603050405020304"/>
              </a:rPr>
              <a:t>Lagdera</a:t>
            </a:r>
            <a:r>
              <a:rPr lang="en-US" altLang="zh-CN" sz="7400" b="1" dirty="0">
                <a:latin typeface="Times New Roman" panose="02020603050405020304"/>
              </a:rPr>
              <a:t> Sub-County. By examining the nature and effect of domestic chores, what parents are made aware of by teachers, and the extent of a focus on child </a:t>
            </a:r>
            <a:r>
              <a:rPr lang="en-US" altLang="zh-CN" sz="7400" b="1" dirty="0" err="1">
                <a:latin typeface="Times New Roman" panose="02020603050405020304"/>
              </a:rPr>
              <a:t>labour</a:t>
            </a:r>
            <a:r>
              <a:rPr lang="en-US" altLang="zh-CN" sz="7400" b="1" dirty="0">
                <a:latin typeface="Times New Roman" panose="02020603050405020304"/>
              </a:rPr>
              <a:t> policy, this study aims to suggest an evidence-based course of action for stakeholders interested in promoting the education of girls in </a:t>
            </a:r>
            <a:r>
              <a:rPr lang="en-US" altLang="zh-CN" sz="7400" b="1" dirty="0" err="1">
                <a:latin typeface="Times New Roman" panose="02020603050405020304"/>
              </a:rPr>
              <a:t>Lagdera</a:t>
            </a:r>
            <a:r>
              <a:rPr lang="en-US" altLang="zh-CN" sz="7400" b="1" dirty="0">
                <a:latin typeface="Times New Roman" panose="02020603050405020304"/>
              </a:rPr>
              <a:t> Sub-county.</a:t>
            </a:r>
            <a:endParaRPr lang="en-US" altLang="zh-CN" sz="7400" b="1" dirty="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rmAutofit/>
          </a:bodyPr>
          <a:lstStyle/>
          <a:p>
            <a:r>
              <a:rPr lang="en-US" b="1" i="0" u="none" strike="noStrike" kern="2200" baseline="0" dirty="0" smtClean="0">
                <a:latin typeface="Times New Roman" panose="02020603050405020304"/>
              </a:rPr>
              <a:t>Purpose of the Study</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961344"/>
            <a:ext cx="8425339" cy="4309679"/>
          </a:xfrm>
          <a:solidFill>
            <a:schemeClr val="bg1"/>
          </a:solidFill>
        </p:spPr>
        <p:txBody>
          <a:bodyPr>
            <a:normAutofit lnSpcReduction="10000"/>
          </a:bodyPr>
          <a:lstStyle/>
          <a:p>
            <a:r>
              <a:rPr lang="en-US" altLang="zh-CN" b="1" i="0" u="none" strike="noStrike" baseline="0" dirty="0" smtClean="0">
                <a:latin typeface="Times New Roman" panose="02020603050405020304"/>
              </a:rPr>
              <a:t>The study seeks to investigate the link between domestic chores and dropout rate among girls in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within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 The research will focus on understanding how domestic responsibilities, parental awareness, and enforcement of child </a:t>
            </a:r>
            <a:r>
              <a:rPr lang="en-US" altLang="zh-CN" b="1" i="0" u="none" strike="noStrike" baseline="0" dirty="0" err="1" smtClean="0">
                <a:latin typeface="Times New Roman" panose="02020603050405020304"/>
              </a:rPr>
              <a:t>labour</a:t>
            </a:r>
            <a:r>
              <a:rPr lang="en-US" altLang="zh-CN" b="1" i="0" u="none" strike="noStrike" baseline="0" dirty="0" smtClean="0">
                <a:latin typeface="Times New Roman" panose="02020603050405020304"/>
              </a:rPr>
              <a:t> laws influence </a:t>
            </a:r>
            <a:r>
              <a:rPr lang="en-US" altLang="zh-CN" b="1" i="0" u="none" strike="noStrike" baseline="0" dirty="0" smtClean="0">
                <a:latin typeface="Times New Roman" panose="02020603050405020304"/>
              </a:rPr>
              <a:t>girls</a:t>
            </a:r>
            <a:r>
              <a:rPr lang="zh-CN" altLang="en-US" b="1" i="0" u="none" strike="noStrike" baseline="0" dirty="0" smtClean="0">
                <a:latin typeface="Times New Roman" panose="02020603050405020304"/>
              </a:rPr>
              <a:t>’</a:t>
            </a:r>
            <a:r>
              <a:rPr lang="en-US" altLang="zh-CN" b="1" i="0" u="none" strike="noStrike" baseline="0" dirty="0" smtClean="0">
                <a:latin typeface="Times New Roman" panose="02020603050405020304"/>
              </a:rPr>
              <a:t>ability </a:t>
            </a:r>
            <a:r>
              <a:rPr lang="en-US" altLang="zh-CN" b="1" i="0" u="none" strike="noStrike" baseline="0" dirty="0" smtClean="0">
                <a:latin typeface="Times New Roman" panose="02020603050405020304"/>
              </a:rPr>
              <a:t>to remain in school, especially, in junior secondary school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 and suggest the possible solutions to solve the identified problem.</a:t>
            </a:r>
            <a:endParaRPr lang="en-US" altLang="zh-CN"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rmAutofit/>
          </a:bodyPr>
          <a:lstStyle/>
          <a:p>
            <a:r>
              <a:rPr lang="en-US" b="1" i="0" u="none" strike="noStrike" kern="2200" baseline="0" dirty="0" smtClean="0">
                <a:latin typeface="Times New Roman" panose="02020603050405020304"/>
              </a:rPr>
              <a:t>Objectives of the Study</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961344"/>
            <a:ext cx="8425339" cy="4385287"/>
          </a:xfrm>
          <a:solidFill>
            <a:schemeClr val="bg1"/>
          </a:solidFill>
        </p:spPr>
        <p:txBody>
          <a:bodyPr>
            <a:normAutofit fontScale="85000" lnSpcReduction="20000"/>
          </a:bodyPr>
          <a:lstStyle/>
          <a:p>
            <a:pPr marL="141605" indent="0">
              <a:buNone/>
            </a:pPr>
            <a:r>
              <a:rPr lang="en-US" altLang="zh-CN" b="1" i="0" u="none" strike="noStrike" baseline="0" dirty="0" smtClean="0">
                <a:latin typeface="Times New Roman" panose="02020603050405020304"/>
              </a:rPr>
              <a:t>     The study will be guided by the following objectives: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To examine the types of domestic chores assigned to girls and their relationship to dropout rate in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To assess the effects of domestic chores on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school attendance and dropout rate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To evaluate the level of parental sensitization on the impact of domestic chores on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education and dropout rate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To analyze the enforcement of child </a:t>
            </a:r>
            <a:r>
              <a:rPr lang="en-US" altLang="zh-CN" b="1" i="0" u="none" strike="noStrike" baseline="0" dirty="0" err="1" smtClean="0">
                <a:latin typeface="Times New Roman" panose="02020603050405020304"/>
              </a:rPr>
              <a:t>labour</a:t>
            </a:r>
            <a:r>
              <a:rPr lang="en-US" altLang="zh-CN" b="1" i="0" u="none" strike="noStrike" baseline="0" dirty="0" smtClean="0">
                <a:latin typeface="Times New Roman" panose="02020603050405020304"/>
              </a:rPr>
              <a:t> policies in relation to dropout rate among girls in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r>
              <a:rPr lang="en-US" b="1" i="0" u="none" strike="noStrike" kern="2200" baseline="0" dirty="0" smtClean="0">
                <a:latin typeface="Times New Roman" panose="02020603050405020304"/>
              </a:rPr>
              <a:t>Research Questions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961344"/>
            <a:ext cx="8425339" cy="4385287"/>
          </a:xfrm>
          <a:solidFill>
            <a:schemeClr val="bg1"/>
          </a:solidFill>
        </p:spPr>
        <p:txBody>
          <a:bodyPr>
            <a:normAutofit fontScale="85000" lnSpcReduction="20000"/>
          </a:bodyPr>
          <a:lstStyle/>
          <a:p>
            <a:pPr marL="141605" indent="0">
              <a:buNone/>
            </a:pPr>
            <a:r>
              <a:rPr lang="en-US" altLang="zh-CN" b="1" i="0" u="none" strike="noStrike" baseline="0" dirty="0" smtClean="0">
                <a:latin typeface="Times New Roman" panose="02020603050405020304"/>
              </a:rPr>
              <a:t>This study will be guided by the following research      questions: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What type</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of domestic chores are commonly assigned to girls in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How do domestic chores influence girls’ school attendance in junior schools?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What is the level of parental awareness regarding the impact of domestic chores on girls’ education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How effective is the enforcement of child </a:t>
            </a:r>
            <a:r>
              <a:rPr lang="en-US" altLang="zh-CN" b="1" i="0" u="none" strike="noStrike" baseline="0" dirty="0" err="1" smtClean="0">
                <a:latin typeface="Times New Roman" panose="02020603050405020304"/>
              </a:rPr>
              <a:t>labour</a:t>
            </a:r>
            <a:r>
              <a:rPr lang="en-US" altLang="zh-CN" b="1" i="0" u="none" strike="noStrike" baseline="0" dirty="0" smtClean="0">
                <a:latin typeface="Times New Roman" panose="02020603050405020304"/>
              </a:rPr>
              <a:t> policies in addressing dropout rates among girls in junior schools?</a:t>
            </a:r>
            <a:endParaRPr lang="en-US" altLang="zh-CN"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rmAutofit fontScale="90000"/>
          </a:bodyPr>
          <a:lstStyle/>
          <a:p>
            <a:r>
              <a:rPr lang="en-US" b="1" i="0" u="none" strike="noStrike" kern="2200" baseline="0" dirty="0" smtClean="0">
                <a:latin typeface="Times New Roman" panose="02020603050405020304"/>
              </a:rPr>
              <a:t>Research Hypotheses (Null Hypotheses)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961344"/>
            <a:ext cx="8425339" cy="4439331"/>
          </a:xfrm>
          <a:solidFill>
            <a:schemeClr val="bg1"/>
          </a:solidFill>
        </p:spPr>
        <p:txBody>
          <a:bodyPr>
            <a:normAutofit fontScale="85000" lnSpcReduction="20000"/>
          </a:bodyPr>
          <a:lstStyle/>
          <a:p>
            <a:pPr marL="141605" indent="0">
              <a:buNone/>
            </a:pPr>
            <a:r>
              <a:rPr lang="en-US" altLang="zh-CN" b="1" i="0" u="none" strike="noStrike" baseline="0" dirty="0" smtClean="0">
                <a:latin typeface="Times New Roman" panose="02020603050405020304"/>
              </a:rPr>
              <a:t>     The study will test the following hypotheses: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H</a:t>
            </a:r>
            <a:r>
              <a:rPr lang="zh-CN" altLang="en-US" b="1" i="0" u="none" strike="noStrike" baseline="0" dirty="0" smtClean="0">
                <a:latin typeface="Times New Roman" panose="02020603050405020304"/>
              </a:rPr>
              <a:t>₀₁</a:t>
            </a:r>
            <a:r>
              <a:rPr lang="en-US" altLang="zh-CN" b="1" i="0" u="none" strike="noStrike" baseline="0" dirty="0" smtClean="0">
                <a:latin typeface="Times New Roman" panose="02020603050405020304"/>
              </a:rPr>
              <a:t>: There is no significant relationship between the type of domestic chores assigned to girls and their dropout rate in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H</a:t>
            </a:r>
            <a:r>
              <a:rPr lang="zh-CN" altLang="en-US" b="1" i="0" u="none" strike="noStrike" baseline="0" dirty="0" smtClean="0">
                <a:latin typeface="Times New Roman" panose="02020603050405020304"/>
              </a:rPr>
              <a:t>₀₂</a:t>
            </a:r>
            <a:r>
              <a:rPr lang="en-US" altLang="zh-CN" b="1" i="0" u="none" strike="noStrike" baseline="0" dirty="0" smtClean="0">
                <a:latin typeface="Times New Roman" panose="02020603050405020304"/>
              </a:rPr>
              <a:t>: Domestic chores have no significant effect on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school attendance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H</a:t>
            </a:r>
            <a:r>
              <a:rPr lang="zh-CN" altLang="en-US" b="1" i="0" u="none" strike="noStrike" baseline="0" dirty="0" smtClean="0">
                <a:latin typeface="Times New Roman" panose="02020603050405020304"/>
              </a:rPr>
              <a:t>₀₃</a:t>
            </a:r>
            <a:r>
              <a:rPr lang="en-US" altLang="zh-CN" b="1" i="0" u="none" strike="noStrike" baseline="0" dirty="0" smtClean="0">
                <a:latin typeface="Times New Roman" panose="02020603050405020304"/>
              </a:rPr>
              <a:t>: Parental sensitization has no significant influence on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dropout rates in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H</a:t>
            </a:r>
            <a:r>
              <a:rPr lang="zh-CN" altLang="en-US" b="1" i="0" u="none" strike="noStrike" baseline="0" dirty="0" smtClean="0">
                <a:latin typeface="Times New Roman" panose="02020603050405020304"/>
              </a:rPr>
              <a:t>₀₄</a:t>
            </a:r>
            <a:r>
              <a:rPr lang="en-US" altLang="zh-CN" b="1" i="0" u="none" strike="noStrike" baseline="0" dirty="0" smtClean="0">
                <a:latin typeface="Times New Roman" panose="02020603050405020304"/>
              </a:rPr>
              <a:t>: Enforcement of child </a:t>
            </a:r>
            <a:r>
              <a:rPr lang="en-US" altLang="zh-CN" b="1" i="0" u="none" strike="noStrike" baseline="0" dirty="0" err="1" smtClean="0">
                <a:latin typeface="Times New Roman" panose="02020603050405020304"/>
              </a:rPr>
              <a:t>labour</a:t>
            </a:r>
            <a:r>
              <a:rPr lang="en-US" altLang="zh-CN" b="1" i="0" u="none" strike="noStrike" baseline="0" dirty="0" smtClean="0">
                <a:latin typeface="Times New Roman" panose="02020603050405020304"/>
              </a:rPr>
              <a:t> policies does not significantly affect dropout rates of girls in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rmAutofit/>
          </a:bodyPr>
          <a:lstStyle/>
          <a:p>
            <a:r>
              <a:rPr lang="en-US" b="1" i="0" u="none" strike="noStrike" kern="2200" baseline="0" dirty="0" smtClean="0">
                <a:latin typeface="Times New Roman" panose="02020603050405020304"/>
              </a:rPr>
              <a:t>Significance of the Study</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885736"/>
            <a:ext cx="8425339" cy="4460896"/>
          </a:xfrm>
          <a:solidFill>
            <a:schemeClr val="bg1"/>
          </a:solidFill>
        </p:spPr>
        <p:txBody>
          <a:bodyPr>
            <a:normAutofit fontScale="70000" lnSpcReduction="20000"/>
          </a:bodyPr>
          <a:lstStyle/>
          <a:p>
            <a:r>
              <a:rPr lang="en-US" altLang="zh-CN" b="1" i="0" u="none" strike="noStrike" baseline="0" dirty="0" smtClean="0">
                <a:latin typeface="Times New Roman" panose="02020603050405020304"/>
              </a:rPr>
              <a:t>This study is important because it looks into one of the precise factors that influence girls' education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 domestic chores. With an emphasis on the influence that household chores have on girls’ school attendance and academic performance, the study will provide evidence-based data regarding one of the root causes of school dropout for girls' education in arid and semi-arid areas of Kenya,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 </a:t>
            </a:r>
            <a:endParaRPr lang="en-US" altLang="zh-CN"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report will positively influence key stakeholders </a:t>
            </a:r>
            <a:r>
              <a:rPr lang="en-US" altLang="zh-CN" b="1" i="0" u="none" strike="noStrike" baseline="0" dirty="0" err="1" smtClean="0">
                <a:latin typeface="Times New Roman" panose="02020603050405020304"/>
              </a:rPr>
              <a:t>i.e</a:t>
            </a:r>
            <a:r>
              <a:rPr lang="en-US" altLang="zh-CN" b="1" i="0" u="none" strike="noStrike" baseline="0" dirty="0" smtClean="0">
                <a:latin typeface="Times New Roman" panose="02020603050405020304"/>
              </a:rPr>
              <a:t> education policymakers, teachers, parents, local administrators, NGOs, and community leaders to understand how household responsibilities have restricted girls’ educational opportunities, and assist in the further development of targeted interventions, awareness campaigns, and policy implementation strategies to promote gender equality and efforts to reduce school dropout.</a:t>
            </a:r>
            <a:endParaRPr lang="en-US" altLang="zh-CN"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r>
              <a:rPr lang="en-US" b="1" i="0" u="none" strike="noStrike" kern="2200" baseline="0" dirty="0" smtClean="0">
                <a:latin typeface="Times New Roman" panose="02020603050405020304"/>
              </a:rPr>
              <a:t>Assumptions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885736"/>
            <a:ext cx="8425339" cy="4514939"/>
          </a:xfrm>
          <a:solidFill>
            <a:schemeClr val="bg1"/>
          </a:solidFill>
        </p:spPr>
        <p:txBody>
          <a:bodyPr>
            <a:normAutofit fontScale="70000" lnSpcReduction="20000"/>
          </a:bodyPr>
          <a:lstStyle/>
          <a:p>
            <a:pPr marL="141605" indent="0">
              <a:buNone/>
            </a:pPr>
            <a:r>
              <a:rPr lang="en-US" altLang="zh-CN" b="1" i="0" u="none" strike="noStrike" baseline="0" dirty="0" smtClean="0">
                <a:latin typeface="Times New Roman" panose="02020603050405020304"/>
              </a:rPr>
              <a:t>       This </a:t>
            </a:r>
            <a:r>
              <a:rPr lang="en-US" altLang="zh-CN" b="1" i="0" u="none" strike="noStrike" baseline="0" dirty="0" smtClean="0">
                <a:latin typeface="Times New Roman" panose="02020603050405020304"/>
              </a:rPr>
              <a:t>study is based on the following assumptions: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It is assumed that domestic chores significantly influence the dropout rates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of girls in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within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It is also assumed that existing policies on child </a:t>
            </a:r>
            <a:r>
              <a:rPr lang="en-US" altLang="zh-CN" b="1" i="0" u="none" strike="noStrike" baseline="0" dirty="0" err="1" smtClean="0">
                <a:latin typeface="Times New Roman" panose="02020603050405020304"/>
              </a:rPr>
              <a:t>labour</a:t>
            </a:r>
            <a:r>
              <a:rPr lang="en-US" altLang="zh-CN" b="1" i="0" u="none" strike="noStrike" baseline="0" dirty="0" smtClean="0">
                <a:latin typeface="Times New Roman" panose="02020603050405020304"/>
              </a:rPr>
              <a:t> and education are known but may not be fully enforced at the community level within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research assumes that parental awareness and cultural attitudes play a crucial role in either promoting or hindering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education within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It is assumed that schools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 maintain records that can help identify patterns related to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attendance, performance, and dropout.</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It is assumed that some parents prioritize domestic support over girls' schooling due to survival needs or cultural expectations and norms.</a:t>
            </a:r>
            <a:endParaRPr lang="en-US" altLang="zh-CN"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r>
              <a:rPr lang="en-US" b="1" i="0" u="none" strike="noStrike" kern="2200" baseline="0" dirty="0" smtClean="0">
                <a:latin typeface="Times New Roman" panose="02020603050405020304"/>
              </a:rPr>
              <a:t>Limitations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885736"/>
            <a:ext cx="8425339" cy="4514939"/>
          </a:xfrm>
          <a:solidFill>
            <a:schemeClr val="bg1"/>
          </a:solidFill>
        </p:spPr>
        <p:txBody>
          <a:bodyPr>
            <a:normAutofit fontScale="55000" lnSpcReduction="20000"/>
          </a:bodyPr>
          <a:lstStyle/>
          <a:p>
            <a:r>
              <a:rPr lang="en-US" altLang="zh-CN" sz="3000" b="1" dirty="0">
                <a:latin typeface="Times New Roman" panose="02020603050405020304"/>
              </a:rPr>
              <a:t>There may be several limitations in this study that may impact the extent and depth of findings. First, the reliance on self-report data from students, parents, and teachers presents a potential threat to the study's credibility: social desirability bias. This occurs when respondents intentionally underreport; when provided with</a:t>
            </a:r>
            <a:r>
              <a:rPr lang="zh-CN" altLang="en-US" sz="3000" b="1" dirty="0">
                <a:latin typeface="Times New Roman" panose="02020603050405020304"/>
              </a:rPr>
              <a:t> </a:t>
            </a:r>
            <a:r>
              <a:rPr lang="en-US" altLang="zh-CN" sz="3000" b="1" dirty="0">
                <a:latin typeface="Times New Roman" panose="02020603050405020304"/>
              </a:rPr>
              <a:t>a keen </a:t>
            </a:r>
            <a:r>
              <a:rPr lang="en-US" altLang="zh-CN" sz="3000" b="1" dirty="0" err="1">
                <a:latin typeface="Times New Roman" panose="02020603050405020304"/>
              </a:rPr>
              <a:t>favour</a:t>
            </a:r>
            <a:r>
              <a:rPr lang="en-US" altLang="zh-CN" sz="3000" b="1" dirty="0">
                <a:latin typeface="Times New Roman" panose="02020603050405020304"/>
              </a:rPr>
              <a:t> or over-report; when respondents share negative feedback information in order to create a social desirability to conform to social standards and be seen in a favorable condition. Such social desirability bias may impact the self-reported data that is collected around household chores and attendance to school.</a:t>
            </a:r>
            <a:endParaRPr lang="en-US" altLang="zh-CN" sz="3000" b="1" dirty="0">
              <a:latin typeface="Times New Roman" panose="02020603050405020304"/>
            </a:endParaRPr>
          </a:p>
          <a:p>
            <a:r>
              <a:rPr lang="en-US" altLang="zh-CN" sz="3000" b="1" dirty="0">
                <a:latin typeface="Times New Roman" panose="02020603050405020304"/>
              </a:rPr>
              <a:t>Secondly, the limitation of geographical scope of the study; restricted to </a:t>
            </a:r>
            <a:r>
              <a:rPr lang="en-US" altLang="zh-CN" sz="3000" b="1" dirty="0" err="1">
                <a:latin typeface="Times New Roman" panose="02020603050405020304"/>
              </a:rPr>
              <a:t>Lagdera</a:t>
            </a:r>
            <a:r>
              <a:rPr lang="en-US" altLang="zh-CN" sz="3000" b="1" dirty="0">
                <a:latin typeface="Times New Roman" panose="02020603050405020304"/>
              </a:rPr>
              <a:t> Sub-County has implications for generalizations of the findings to other regions with social or economic characteristics different from those of </a:t>
            </a:r>
            <a:r>
              <a:rPr lang="en-US" altLang="zh-CN" sz="3000" b="1" dirty="0" err="1">
                <a:latin typeface="Times New Roman" panose="02020603050405020304"/>
              </a:rPr>
              <a:t>Lagdera</a:t>
            </a:r>
            <a:r>
              <a:rPr lang="en-US" altLang="zh-CN" sz="3000" b="1" dirty="0">
                <a:latin typeface="Times New Roman" panose="02020603050405020304"/>
              </a:rPr>
              <a:t> Sub-County. Within the data collection process, there are also potential difficulties in dealing with language and cultural sensibilities especially while discussing gender roles and issues of school dropout. There will also be constraints to effective and comprehensive data collection that may arise from limited direct access to school records and evidence of incomplete information reporting associated with school records in relation to school dropout and attendance data across time in primary and junior school levels, which could hamper more useful comparisons and the development of attendance and dropout trajectories.</a:t>
            </a:r>
            <a:endParaRPr lang="en-US" altLang="zh-CN" sz="3000" b="1" dirty="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r>
              <a:rPr lang="en-US" b="1" i="0" u="none" strike="noStrike" kern="2200" baseline="0" dirty="0" smtClean="0">
                <a:latin typeface="Times New Roman" panose="02020603050405020304"/>
              </a:rPr>
              <a:t>Delimitation</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885736"/>
            <a:ext cx="8425339" cy="4514939"/>
          </a:xfrm>
          <a:solidFill>
            <a:schemeClr val="bg1"/>
          </a:solidFill>
        </p:spPr>
        <p:txBody>
          <a:bodyPr>
            <a:normAutofit fontScale="70000" lnSpcReduction="20000"/>
          </a:bodyPr>
          <a:lstStyle/>
          <a:p>
            <a:r>
              <a:rPr lang="en-US" altLang="zh-CN" sz="3200" b="1" dirty="0">
                <a:latin typeface="Times New Roman" panose="02020603050405020304"/>
              </a:rPr>
              <a:t>The current study will delimit itself to public junior schools</a:t>
            </a:r>
            <a:r>
              <a:rPr lang="zh-CN" altLang="en-US" sz="3200" b="1" dirty="0">
                <a:latin typeface="Times New Roman" panose="02020603050405020304"/>
              </a:rPr>
              <a:t> </a:t>
            </a:r>
            <a:r>
              <a:rPr lang="en-US" altLang="zh-CN" sz="3200" b="1" dirty="0">
                <a:latin typeface="Times New Roman" panose="02020603050405020304"/>
              </a:rPr>
              <a:t>in </a:t>
            </a:r>
            <a:r>
              <a:rPr lang="en-US" altLang="zh-CN" sz="3200" b="1" dirty="0" err="1">
                <a:latin typeface="Times New Roman" panose="02020603050405020304"/>
              </a:rPr>
              <a:t>Lagdera</a:t>
            </a:r>
            <a:r>
              <a:rPr lang="en-US" altLang="zh-CN" sz="3200" b="1" dirty="0">
                <a:latin typeface="Times New Roman" panose="02020603050405020304"/>
              </a:rPr>
              <a:t> Sub-County, Kenya. The focus is on girls in public junior schools, parents</a:t>
            </a:r>
            <a:r>
              <a:rPr lang="zh-CN" altLang="en-US" sz="3200" b="1" dirty="0">
                <a:latin typeface="Times New Roman" panose="02020603050405020304"/>
              </a:rPr>
              <a:t> </a:t>
            </a:r>
            <a:r>
              <a:rPr lang="en-US" altLang="zh-CN" sz="3200" b="1" dirty="0">
                <a:latin typeface="Times New Roman" panose="02020603050405020304"/>
              </a:rPr>
              <a:t>and teachers</a:t>
            </a:r>
            <a:r>
              <a:rPr lang="zh-CN" altLang="en-US" sz="3200" b="1" dirty="0">
                <a:latin typeface="Times New Roman" panose="02020603050405020304"/>
              </a:rPr>
              <a:t> </a:t>
            </a:r>
            <a:r>
              <a:rPr lang="en-US" altLang="zh-CN" sz="3200" b="1" dirty="0">
                <a:latin typeface="Times New Roman" panose="02020603050405020304"/>
              </a:rPr>
              <a:t>in the study. Private junior schools, Boys in public junior schools</a:t>
            </a:r>
            <a:r>
              <a:rPr lang="zh-CN" altLang="en-US" sz="3200" b="1" dirty="0">
                <a:latin typeface="Times New Roman" panose="02020603050405020304"/>
              </a:rPr>
              <a:t> </a:t>
            </a:r>
            <a:r>
              <a:rPr lang="en-US" altLang="zh-CN" sz="3200" b="1" dirty="0">
                <a:latin typeface="Times New Roman" panose="02020603050405020304"/>
              </a:rPr>
              <a:t>and junior schools</a:t>
            </a:r>
            <a:r>
              <a:rPr lang="zh-CN" altLang="en-US" sz="3200" b="1" dirty="0">
                <a:latin typeface="Times New Roman" panose="02020603050405020304"/>
              </a:rPr>
              <a:t> </a:t>
            </a:r>
            <a:r>
              <a:rPr lang="en-US" altLang="zh-CN" sz="3200" b="1" dirty="0">
                <a:latin typeface="Times New Roman" panose="02020603050405020304"/>
              </a:rPr>
              <a:t>outside the sub-county will be excluded from the research. Thus, the study would explore how domestic chores impact girls</a:t>
            </a:r>
            <a:r>
              <a:rPr lang="zh-CN" altLang="en-US" sz="3200" b="1" dirty="0">
                <a:latin typeface="Times New Roman" panose="02020603050405020304"/>
              </a:rPr>
              <a:t>’ </a:t>
            </a:r>
            <a:r>
              <a:rPr lang="en-US" altLang="zh-CN" sz="3200" b="1" dirty="0">
                <a:latin typeface="Times New Roman" panose="02020603050405020304"/>
              </a:rPr>
              <a:t>dropout of schools. </a:t>
            </a:r>
            <a:endParaRPr lang="en-US" altLang="zh-CN" sz="3200" b="1" dirty="0">
              <a:latin typeface="Times New Roman" panose="02020603050405020304"/>
            </a:endParaRPr>
          </a:p>
          <a:p>
            <a:r>
              <a:rPr lang="en-US" altLang="zh-CN" sz="3200" b="1" dirty="0">
                <a:latin typeface="Times New Roman" panose="02020603050405020304"/>
              </a:rPr>
              <a:t>Additionally, the study will concentrate on domestic chores as the main independent variable, excluding other possible factors influencing dropout such as school infrastructure, peer influence, government funding or family income. The time-frame for data collection will also be limited to the current academic year, making the study more focused but potentially excluding long-term trends or past experiences.</a:t>
            </a:r>
            <a:endParaRPr lang="en-US" altLang="zh-CN" sz="3200" b="1" dirty="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r>
              <a:rPr lang="en-US" b="1" i="0" u="none" strike="noStrike" kern="2200" baseline="0" dirty="0" smtClean="0">
                <a:latin typeface="Times New Roman" panose="02020603050405020304"/>
              </a:rPr>
              <a:t>Literature Review</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885736"/>
            <a:ext cx="8425339" cy="4514939"/>
          </a:xfrm>
          <a:solidFill>
            <a:schemeClr val="bg1"/>
          </a:solidFill>
        </p:spPr>
        <p:txBody>
          <a:bodyPr>
            <a:normAutofit fontScale="40000" lnSpcReduction="20000"/>
          </a:bodyPr>
          <a:lstStyle/>
          <a:p>
            <a:r>
              <a:rPr lang="en-US" altLang="zh-CN" sz="3100" b="1" dirty="0">
                <a:latin typeface="Times New Roman" panose="02020603050405020304"/>
              </a:rPr>
              <a:t>Studies across various contexts consistently highlight domestic work as a significant barrier to girls</a:t>
            </a:r>
            <a:r>
              <a:rPr lang="zh-CN" altLang="en-US" sz="3100" b="1" dirty="0">
                <a:latin typeface="Times New Roman" panose="02020603050405020304"/>
              </a:rPr>
              <a:t>’ </a:t>
            </a:r>
            <a:r>
              <a:rPr lang="en-US" altLang="zh-CN" sz="3100" b="1" dirty="0">
                <a:latin typeface="Times New Roman" panose="02020603050405020304"/>
              </a:rPr>
              <a:t>education. </a:t>
            </a:r>
            <a:r>
              <a:rPr lang="en-US" altLang="zh-CN" sz="3100" b="1" dirty="0" err="1">
                <a:latin typeface="Times New Roman" panose="02020603050405020304"/>
              </a:rPr>
              <a:t>Agengo</a:t>
            </a:r>
            <a:r>
              <a:rPr lang="en-US" altLang="zh-CN" sz="3100" b="1" dirty="0">
                <a:latin typeface="Times New Roman" panose="02020603050405020304"/>
              </a:rPr>
              <a:t> and </a:t>
            </a:r>
            <a:r>
              <a:rPr lang="en-US" altLang="zh-CN" sz="3100" b="1" dirty="0" err="1">
                <a:latin typeface="Times New Roman" panose="02020603050405020304"/>
              </a:rPr>
              <a:t>Mugisha</a:t>
            </a:r>
            <a:r>
              <a:rPr lang="en-US" altLang="zh-CN" sz="3100" b="1" dirty="0">
                <a:latin typeface="Times New Roman" panose="02020603050405020304"/>
              </a:rPr>
              <a:t> (2025) found that in </a:t>
            </a:r>
            <a:r>
              <a:rPr lang="en-US" altLang="zh-CN" sz="3100" b="1" dirty="0" err="1">
                <a:latin typeface="Times New Roman" panose="02020603050405020304"/>
              </a:rPr>
              <a:t>Kyamuhunga</a:t>
            </a:r>
            <a:r>
              <a:rPr lang="en-US" altLang="zh-CN" sz="3100" b="1" dirty="0">
                <a:latin typeface="Times New Roman" panose="02020603050405020304"/>
              </a:rPr>
              <a:t>, Uganda, girls are disproportionately tasked with household chores such as cooking, water collection, and caregiving, which limits their study time and contributes to fatigue and disengagement. Similar patterns were observed in </a:t>
            </a:r>
            <a:r>
              <a:rPr lang="en-US" altLang="zh-CN" sz="3100" b="1" dirty="0" err="1">
                <a:latin typeface="Times New Roman" panose="02020603050405020304"/>
              </a:rPr>
              <a:t>Dadaab</a:t>
            </a:r>
            <a:r>
              <a:rPr lang="en-US" altLang="zh-CN" sz="3100" b="1" dirty="0">
                <a:latin typeface="Times New Roman" panose="02020603050405020304"/>
              </a:rPr>
              <a:t> refugee camps by </a:t>
            </a:r>
            <a:r>
              <a:rPr lang="en-US" altLang="zh-CN" sz="3100" b="1" dirty="0" err="1">
                <a:latin typeface="Times New Roman" panose="02020603050405020304"/>
              </a:rPr>
              <a:t>Dagane</a:t>
            </a:r>
            <a:r>
              <a:rPr lang="en-US" altLang="zh-CN" sz="3100" b="1" dirty="0">
                <a:latin typeface="Times New Roman" panose="02020603050405020304"/>
              </a:rPr>
              <a:t> and Aden (2021), where girls with heavy domestic responsibilities showed higher absenteeism and lower academic performance. </a:t>
            </a:r>
            <a:r>
              <a:rPr lang="en-US" altLang="zh-CN" sz="3100" b="1" dirty="0" err="1">
                <a:latin typeface="Times New Roman" panose="02020603050405020304"/>
              </a:rPr>
              <a:t>Nyamweya</a:t>
            </a:r>
            <a:r>
              <a:rPr lang="en-US" altLang="zh-CN" sz="3100" b="1" dirty="0">
                <a:latin typeface="Times New Roman" panose="02020603050405020304"/>
              </a:rPr>
              <a:t> (2012) also reported that in </a:t>
            </a:r>
            <a:r>
              <a:rPr lang="en-US" altLang="zh-CN" sz="3100" b="1" dirty="0" err="1">
                <a:latin typeface="Times New Roman" panose="02020603050405020304"/>
              </a:rPr>
              <a:t>Kajiado</a:t>
            </a:r>
            <a:r>
              <a:rPr lang="en-US" altLang="zh-CN" sz="3100" b="1" dirty="0">
                <a:latin typeface="Times New Roman" panose="02020603050405020304"/>
              </a:rPr>
              <a:t> North, Kenya, domestic chores were unequally distributed, with girls bearing the brunt, leading to reduced school participation.</a:t>
            </a:r>
            <a:endParaRPr lang="en-US" altLang="zh-CN" sz="3100" b="1" dirty="0">
              <a:latin typeface="Times New Roman" panose="02020603050405020304"/>
            </a:endParaRPr>
          </a:p>
          <a:p>
            <a:r>
              <a:rPr lang="en-US" altLang="zh-CN" sz="3100" b="1" dirty="0">
                <a:latin typeface="Times New Roman" panose="02020603050405020304"/>
              </a:rPr>
              <a:t>Poverty emerged as a central factor influencing dropout rates in</a:t>
            </a:r>
            <a:r>
              <a:rPr lang="zh-CN" altLang="en-US" sz="3100" b="1" dirty="0">
                <a:latin typeface="Times New Roman" panose="02020603050405020304"/>
              </a:rPr>
              <a:t> </a:t>
            </a:r>
            <a:r>
              <a:rPr lang="en-US" altLang="zh-CN" sz="3100" b="1" dirty="0">
                <a:latin typeface="Times New Roman" panose="02020603050405020304"/>
              </a:rPr>
              <a:t>all reviewed studies. </a:t>
            </a:r>
            <a:r>
              <a:rPr lang="en-US" altLang="zh-CN" sz="3100" b="1" dirty="0" err="1">
                <a:latin typeface="Times New Roman" panose="02020603050405020304"/>
              </a:rPr>
              <a:t>Agengo</a:t>
            </a:r>
            <a:r>
              <a:rPr lang="en-US" altLang="zh-CN" sz="3100" b="1" dirty="0">
                <a:latin typeface="Times New Roman" panose="02020603050405020304"/>
              </a:rPr>
              <a:t> and </a:t>
            </a:r>
            <a:r>
              <a:rPr lang="en-US" altLang="zh-CN" sz="3100" b="1" dirty="0" err="1">
                <a:latin typeface="Times New Roman" panose="02020603050405020304"/>
              </a:rPr>
              <a:t>Mugisha</a:t>
            </a:r>
            <a:r>
              <a:rPr lang="en-US" altLang="zh-CN" sz="3100" b="1" dirty="0">
                <a:latin typeface="Times New Roman" panose="02020603050405020304"/>
              </a:rPr>
              <a:t> (2025) reported that 100% of respondents identified poverty as a key cause of dropout. In </a:t>
            </a:r>
            <a:r>
              <a:rPr lang="en-US" altLang="zh-CN" sz="3100" b="1" dirty="0" err="1">
                <a:latin typeface="Times New Roman" panose="02020603050405020304"/>
              </a:rPr>
              <a:t>Dadaab</a:t>
            </a:r>
            <a:r>
              <a:rPr lang="en-US" altLang="zh-CN" sz="3100" b="1" dirty="0">
                <a:latin typeface="Times New Roman" panose="02020603050405020304"/>
              </a:rPr>
              <a:t>, low household income pushed girls into early marriages or child labor (</a:t>
            </a:r>
            <a:r>
              <a:rPr lang="en-US" altLang="zh-CN" sz="3100" b="1" dirty="0" err="1">
                <a:latin typeface="Times New Roman" panose="02020603050405020304"/>
              </a:rPr>
              <a:t>Dagane</a:t>
            </a:r>
            <a:r>
              <a:rPr lang="en-US" altLang="zh-CN" sz="3100" b="1" dirty="0">
                <a:latin typeface="Times New Roman" panose="02020603050405020304"/>
              </a:rPr>
              <a:t> &amp; Aden, 2021), while </a:t>
            </a:r>
            <a:r>
              <a:rPr lang="en-US" altLang="zh-CN" sz="3100" b="1" dirty="0" err="1">
                <a:latin typeface="Times New Roman" panose="02020603050405020304"/>
              </a:rPr>
              <a:t>Nyamweya</a:t>
            </a:r>
            <a:r>
              <a:rPr lang="en-US" altLang="zh-CN" sz="3100" b="1" dirty="0">
                <a:latin typeface="Times New Roman" panose="02020603050405020304"/>
              </a:rPr>
              <a:t> (2012) linked low parental income and education levels to girls</a:t>
            </a:r>
            <a:r>
              <a:rPr lang="zh-CN" altLang="en-US" sz="3100" b="1" dirty="0">
                <a:latin typeface="Times New Roman" panose="02020603050405020304"/>
              </a:rPr>
              <a:t>’ </a:t>
            </a:r>
            <a:r>
              <a:rPr lang="en-US" altLang="zh-CN" sz="3100" b="1" dirty="0">
                <a:latin typeface="Times New Roman" panose="02020603050405020304"/>
              </a:rPr>
              <a:t>inability to afford school fees. These findings are reinforced by global reports from UNICEF and the World Bank, which emphasize the economic vulnerability of girls in low-income households and its impact on educational continuity.</a:t>
            </a:r>
            <a:endParaRPr lang="en-US" altLang="zh-CN" sz="3100" b="1" dirty="0">
              <a:latin typeface="Times New Roman" panose="02020603050405020304"/>
            </a:endParaRPr>
          </a:p>
          <a:p>
            <a:r>
              <a:rPr lang="en-US" altLang="zh-CN" sz="3100" b="1" dirty="0">
                <a:latin typeface="Times New Roman" panose="02020603050405020304"/>
              </a:rPr>
              <a:t>Cultural norms and gender expectations further compound the dropout problem. In </a:t>
            </a:r>
            <a:r>
              <a:rPr lang="en-US" altLang="zh-CN" sz="3100" b="1" dirty="0" err="1">
                <a:latin typeface="Times New Roman" panose="02020603050405020304"/>
              </a:rPr>
              <a:t>Dadaab</a:t>
            </a:r>
            <a:r>
              <a:rPr lang="en-US" altLang="zh-CN" sz="3100" b="1" dirty="0">
                <a:latin typeface="Times New Roman" panose="02020603050405020304"/>
              </a:rPr>
              <a:t>, cultural beliefs devalued girls</a:t>
            </a:r>
            <a:r>
              <a:rPr lang="zh-CN" altLang="en-US" sz="3100" b="1" dirty="0">
                <a:latin typeface="Times New Roman" panose="02020603050405020304"/>
              </a:rPr>
              <a:t>’ </a:t>
            </a:r>
            <a:r>
              <a:rPr lang="en-US" altLang="zh-CN" sz="3100" b="1" dirty="0">
                <a:latin typeface="Times New Roman" panose="02020603050405020304"/>
              </a:rPr>
              <a:t>education, with early marriage and domestic roles prioritized over schooling (</a:t>
            </a:r>
            <a:r>
              <a:rPr lang="en-US" altLang="zh-CN" sz="3100" b="1" dirty="0" err="1">
                <a:latin typeface="Times New Roman" panose="02020603050405020304"/>
              </a:rPr>
              <a:t>Dagane</a:t>
            </a:r>
            <a:r>
              <a:rPr lang="en-US" altLang="zh-CN" sz="3100" b="1" dirty="0">
                <a:latin typeface="Times New Roman" panose="02020603050405020304"/>
              </a:rPr>
              <a:t> &amp; Aden, 2021). </a:t>
            </a:r>
            <a:r>
              <a:rPr lang="en-US" altLang="zh-CN" sz="3100" b="1" dirty="0" err="1">
                <a:latin typeface="Times New Roman" panose="02020603050405020304"/>
              </a:rPr>
              <a:t>Nyamweya</a:t>
            </a:r>
            <a:r>
              <a:rPr lang="en-US" altLang="zh-CN" sz="3100" b="1" dirty="0">
                <a:latin typeface="Times New Roman" panose="02020603050405020304"/>
              </a:rPr>
              <a:t> (2012) found similar attitudes in </a:t>
            </a:r>
            <a:r>
              <a:rPr lang="en-US" altLang="zh-CN" sz="3100" b="1" dirty="0" err="1">
                <a:latin typeface="Times New Roman" panose="02020603050405020304"/>
              </a:rPr>
              <a:t>Kajiado</a:t>
            </a:r>
            <a:r>
              <a:rPr lang="en-US" altLang="zh-CN" sz="3100" b="1" dirty="0">
                <a:latin typeface="Times New Roman" panose="02020603050405020304"/>
              </a:rPr>
              <a:t>, where patriarchal norms limited parental support for girls</a:t>
            </a:r>
            <a:r>
              <a:rPr lang="zh-CN" altLang="en-US" sz="3100" b="1" dirty="0">
                <a:latin typeface="Times New Roman" panose="02020603050405020304"/>
              </a:rPr>
              <a:t>’ </a:t>
            </a:r>
            <a:r>
              <a:rPr lang="en-US" altLang="zh-CN" sz="3100" b="1" dirty="0">
                <a:latin typeface="Times New Roman" panose="02020603050405020304"/>
              </a:rPr>
              <a:t>education and contributed to the scarcity of girls</a:t>
            </a:r>
            <a:r>
              <a:rPr lang="zh-CN" altLang="en-US" sz="3100" b="1" dirty="0">
                <a:latin typeface="Times New Roman" panose="02020603050405020304"/>
              </a:rPr>
              <a:t>’ </a:t>
            </a:r>
            <a:r>
              <a:rPr lang="en-US" altLang="zh-CN" sz="3100" b="1" dirty="0">
                <a:latin typeface="Times New Roman" panose="02020603050405020304"/>
              </a:rPr>
              <a:t>schools. Early pregnancy and forced marriage were also consistently cited as major causes of dropout, with girls often expelled or pressured to leave school due to societal expectations and economic pressures.</a:t>
            </a:r>
            <a:endParaRPr lang="en-US" altLang="zh-CN" sz="3100" b="1" dirty="0">
              <a:latin typeface="Times New Roman" panose="02020603050405020304"/>
            </a:endParaRPr>
          </a:p>
          <a:p>
            <a:r>
              <a:rPr lang="en-US" altLang="zh-CN" sz="3100" b="1" dirty="0">
                <a:latin typeface="Times New Roman" panose="02020603050405020304"/>
              </a:rPr>
              <a:t>School-related factors and parental engagement also play a critical role. Studies noted that lack of female teachers, poor teacher-student relationships, and absence of gender-responsive teaching methods discouraged girls from continuing their education. Moreover, parental sensitization and community involvement were found to be minimal, with schools rarely conducting awareness programs. This</a:t>
            </a:r>
            <a:r>
              <a:rPr lang="zh-CN" altLang="en-US" sz="3100" b="1" dirty="0">
                <a:latin typeface="Times New Roman" panose="02020603050405020304"/>
              </a:rPr>
              <a:t> </a:t>
            </a:r>
            <a:r>
              <a:rPr lang="en-US" altLang="zh-CN" sz="3100" b="1" dirty="0">
                <a:latin typeface="Times New Roman" panose="02020603050405020304"/>
              </a:rPr>
              <a:t>lack of engagement perpetuates negative attitudes toward girls</a:t>
            </a:r>
            <a:r>
              <a:rPr lang="zh-CN" altLang="en-US" sz="3100" b="1" dirty="0">
                <a:latin typeface="Times New Roman" panose="02020603050405020304"/>
              </a:rPr>
              <a:t>’ </a:t>
            </a:r>
            <a:r>
              <a:rPr lang="en-US" altLang="zh-CN" sz="3100" b="1" dirty="0">
                <a:latin typeface="Times New Roman" panose="02020603050405020304"/>
              </a:rPr>
              <a:t>education. However, gaps remain in the literature, including limited focus on domestic chores as a standalone variable, lack of context-specific data for regions like </a:t>
            </a:r>
            <a:r>
              <a:rPr lang="en-US" altLang="zh-CN" sz="3100" b="1" dirty="0" err="1">
                <a:latin typeface="Times New Roman" panose="02020603050405020304"/>
              </a:rPr>
              <a:t>Lagdera</a:t>
            </a:r>
            <a:r>
              <a:rPr lang="en-US" altLang="zh-CN" sz="3100" b="1" dirty="0">
                <a:latin typeface="Times New Roman" panose="02020603050405020304"/>
              </a:rPr>
              <a:t>, weak analysis of</a:t>
            </a:r>
            <a:r>
              <a:rPr lang="zh-CN" altLang="en-US" sz="3100" b="1" dirty="0">
                <a:latin typeface="Times New Roman" panose="02020603050405020304"/>
              </a:rPr>
              <a:t> </a:t>
            </a:r>
            <a:r>
              <a:rPr lang="en-US" altLang="zh-CN" sz="3100" b="1" dirty="0">
                <a:latin typeface="Times New Roman" panose="02020603050405020304"/>
              </a:rPr>
              <a:t>policy enforcement, and minimal evaluation of gender-responsive interventions such as the KEEP program.</a:t>
            </a:r>
            <a:endParaRPr lang="en-US" altLang="zh-CN" sz="3100" b="1" dirty="0">
              <a:latin typeface="Times New Roman" panose="02020603050405020304"/>
            </a:endParaRPr>
          </a:p>
          <a:p>
            <a:endParaRPr lang="zh-CN" altLang="en-US"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2"/>
            <a:ext cx="8425339" cy="810126"/>
          </a:xfrm>
          <a:solidFill>
            <a:schemeClr val="bg1"/>
          </a:solidFill>
        </p:spPr>
        <p:txBody>
          <a:bodyPr>
            <a:normAutofit/>
          </a:bodyPr>
          <a:lstStyle/>
          <a:p>
            <a:r>
              <a:rPr lang="en-US" b="1" i="0" u="none" strike="noStrike" kern="2200" baseline="0" dirty="0" smtClean="0">
                <a:latin typeface="Times New Roman" panose="02020603050405020304"/>
              </a:rPr>
              <a:t>Theoretical Framework</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658911"/>
            <a:ext cx="8425339" cy="4838938"/>
          </a:xfrm>
          <a:solidFill>
            <a:schemeClr val="bg1"/>
          </a:solidFill>
        </p:spPr>
        <p:txBody>
          <a:bodyPr>
            <a:normAutofit fontScale="40000" lnSpcReduction="20000"/>
          </a:bodyPr>
          <a:lstStyle/>
          <a:p>
            <a:r>
              <a:rPr lang="en-US" altLang="zh-CN" sz="4600" b="1" dirty="0">
                <a:latin typeface="Times New Roman" panose="02020603050405020304"/>
              </a:rPr>
              <a:t>This research will be framed based on the Gender Role Theory, developed by sociologists such as </a:t>
            </a:r>
            <a:r>
              <a:rPr lang="en-US" altLang="zh-CN" sz="4600" b="1" dirty="0" err="1">
                <a:latin typeface="Times New Roman" panose="02020603050405020304"/>
              </a:rPr>
              <a:t>Eagly</a:t>
            </a:r>
            <a:r>
              <a:rPr lang="en-US" altLang="zh-CN" sz="4600" b="1" dirty="0">
                <a:latin typeface="Times New Roman" panose="02020603050405020304"/>
              </a:rPr>
              <a:t> and wood (1991), which explains how social expectations and the cultures of origin dictate what roles are acceptable for individuals based on their gender. Within Gender Role Theory, girls are trained from an early age to take on the roles of caregivers and domestic duties. In contrast, boys are directed towards independence and formal education. The Gender Role Theory is germane in describing why girls in </a:t>
            </a:r>
            <a:r>
              <a:rPr lang="en-US" altLang="zh-CN" sz="4600" b="1" dirty="0" err="1">
                <a:latin typeface="Times New Roman" panose="02020603050405020304"/>
              </a:rPr>
              <a:t>Lagdera</a:t>
            </a:r>
            <a:r>
              <a:rPr lang="en-US" altLang="zh-CN" sz="4600" b="1" dirty="0">
                <a:latin typeface="Times New Roman" panose="02020603050405020304"/>
              </a:rPr>
              <a:t> Sub-County are affected by additional burdens of domestic work that suppresses tempered being when they actually may want to attend school and be successful for the future. </a:t>
            </a:r>
            <a:endParaRPr lang="en-US" altLang="zh-CN" sz="4600" b="1" dirty="0">
              <a:latin typeface="Times New Roman" panose="02020603050405020304"/>
            </a:endParaRPr>
          </a:p>
          <a:p>
            <a:r>
              <a:rPr lang="en-US" altLang="zh-CN" sz="4600" b="1" dirty="0">
                <a:latin typeface="Times New Roman" panose="02020603050405020304"/>
              </a:rPr>
              <a:t>Additionally, the study will build on </a:t>
            </a:r>
            <a:r>
              <a:rPr lang="en-US" altLang="zh-CN" sz="4600" b="1" dirty="0" err="1">
                <a:latin typeface="Times New Roman" panose="02020603050405020304"/>
              </a:rPr>
              <a:t>Bronfenbrenner</a:t>
            </a:r>
            <a:r>
              <a:rPr lang="zh-CN" altLang="en-US" sz="4600" b="1" dirty="0">
                <a:latin typeface="Times New Roman" panose="02020603050405020304"/>
              </a:rPr>
              <a:t>’</a:t>
            </a:r>
            <a:r>
              <a:rPr lang="en-US" altLang="zh-CN" sz="4600" b="1" dirty="0">
                <a:latin typeface="Times New Roman" panose="02020603050405020304"/>
              </a:rPr>
              <a:t>s Ecological systems theory that sees a child's development affected by interaction of environmental systems: home (microsystems), school (</a:t>
            </a:r>
            <a:r>
              <a:rPr lang="en-US" altLang="zh-CN" sz="4600" b="1" dirty="0" err="1">
                <a:latin typeface="Times New Roman" panose="02020603050405020304"/>
              </a:rPr>
              <a:t>meso</a:t>
            </a:r>
            <a:r>
              <a:rPr lang="en-US" altLang="zh-CN" sz="4600" b="1" dirty="0">
                <a:latin typeface="Times New Roman" panose="02020603050405020304"/>
              </a:rPr>
              <a:t>-systems), community, state, and culture (macro-systems). In this way, Ecological systems theory lends itself as a useful descriptive analysis of how parental factors, schools, and community attitudes/interactions affect girls' educational contexts. By utilizing both Gender Role Theory and Ecological Systems Theory, this study will critically assess the deeply entrenched cultural and social systems that govern the educational path away from girls in </a:t>
            </a:r>
            <a:r>
              <a:rPr lang="en-US" altLang="zh-CN" sz="4600" b="1" dirty="0" err="1">
                <a:latin typeface="Times New Roman" panose="02020603050405020304"/>
              </a:rPr>
              <a:t>Lagdera</a:t>
            </a:r>
            <a:r>
              <a:rPr lang="en-US" altLang="zh-CN" sz="4600" b="1" dirty="0">
                <a:latin typeface="Times New Roman" panose="02020603050405020304"/>
              </a:rPr>
              <a:t>.</a:t>
            </a:r>
            <a:endParaRPr lang="en-US" altLang="zh-CN" sz="4600" b="1" dirty="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1"/>
            <a:ext cx="8425339" cy="658910"/>
          </a:xfrm>
          <a:solidFill>
            <a:schemeClr val="bg1"/>
          </a:solidFill>
        </p:spPr>
        <p:txBody>
          <a:bodyPr>
            <a:normAutofit fontScale="90000"/>
          </a:bodyPr>
          <a:lstStyle/>
          <a:p>
            <a:r>
              <a:rPr lang="en-US" b="1" i="0" u="none" strike="noStrike" kern="2200" baseline="0" dirty="0" smtClean="0">
                <a:latin typeface="Times New Roman" panose="02020603050405020304"/>
              </a:rPr>
              <a:t>Conceptual Framework</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507694"/>
            <a:ext cx="8425339" cy="4892981"/>
          </a:xfrm>
          <a:solidFill>
            <a:schemeClr val="bg1"/>
          </a:solidFill>
          <a:ln w="9525">
            <a:noFill/>
          </a:ln>
        </p:spPr>
        <p:txBody>
          <a:bodyPr>
            <a:normAutofit fontScale="77500" lnSpcReduction="20000"/>
          </a:bodyPr>
          <a:lstStyle/>
          <a:p>
            <a:r>
              <a:rPr lang="en-US" altLang="zh-CN" b="1" i="0" u="none" strike="noStrike" baseline="0" dirty="0" smtClean="0">
                <a:latin typeface="Times New Roman" panose="02020603050405020304"/>
              </a:rPr>
              <a:t>The conceptual framework for this study is built around the central idea that domestic chores are a major contributor to school dropout rates among girls in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 The framework illustrates the relationship between independent variables (domestic chores, parental sensitization, and child </a:t>
            </a:r>
            <a:r>
              <a:rPr lang="en-US" altLang="zh-CN" b="1" i="0" u="none" strike="noStrike" baseline="0" dirty="0" err="1" smtClean="0">
                <a:latin typeface="Times New Roman" panose="02020603050405020304"/>
              </a:rPr>
              <a:t>labour</a:t>
            </a:r>
            <a:r>
              <a:rPr lang="en-US" altLang="zh-CN" b="1" i="0" u="none" strike="noStrike" baseline="0" dirty="0" smtClean="0">
                <a:latin typeface="Times New Roman" panose="02020603050405020304"/>
              </a:rPr>
              <a:t> policy enforcement) and the dependent variable (dropout rates of girls).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This framework assumes that when girls are overburdened with chores and parental support is low and combined with weak enforcement of protective</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policies, their likelihood of staying in school decreases significantly. Addressing these issues holistically could improve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school retention and academic success</a:t>
            </a:r>
            <a:r>
              <a:rPr lang="en-US" altLang="zh-CN" b="1" i="0" u="none" strike="noStrike" baseline="0" dirty="0" smtClean="0">
                <a:latin typeface="Times New Roman" panose="02020603050405020304"/>
              </a:rPr>
              <a:t>.</a:t>
            </a:r>
            <a:endParaRPr lang="en-US" altLang="zh-CN" b="1" i="0" u="none" strike="noStrike" baseline="0" dirty="0" smtClean="0">
              <a:latin typeface="Times New Roman" panose="02020603050405020304"/>
            </a:endParaRPr>
          </a:p>
          <a:p>
            <a:pPr marL="141605" indent="0">
              <a:buNone/>
            </a:pPr>
            <a:endParaRPr lang="en-US" altLang="zh-CN"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a:p>
            <a:pPr marL="141605" indent="0">
              <a:buNone/>
            </a:pPr>
            <a:r>
              <a:rPr lang="en-US" altLang="zh-CN" b="1" i="0" u="none" strike="noStrike" baseline="0" dirty="0" smtClean="0">
                <a:latin typeface="Times New Roman" panose="02020603050405020304"/>
              </a:rPr>
              <a:t>          Figure </a:t>
            </a:r>
            <a:r>
              <a:rPr lang="en-US" altLang="zh-CN" b="1" i="0" u="none" strike="noStrike" baseline="0" dirty="0" smtClean="0">
                <a:latin typeface="Times New Roman" panose="02020603050405020304"/>
              </a:rPr>
              <a:t>1 </a:t>
            </a:r>
            <a:r>
              <a:rPr lang="en-US" altLang="zh-CN" b="1" i="0" u="none" strike="noStrike" baseline="0" dirty="0" smtClean="0">
                <a:latin typeface="Times New Roman" panose="02020603050405020304"/>
              </a:rPr>
              <a:t>Conceptual Framework</a:t>
            </a:r>
            <a:endParaRPr lang="en-US" altLang="zh-CN"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p:txBody>
      </p:sp>
      <p:pic>
        <p:nvPicPr>
          <p:cNvPr id="4" name="Picture 3" descr="IMG_256"/>
          <p:cNvPicPr/>
          <p:nvPr/>
        </p:nvPicPr>
        <p:blipFill>
          <a:blip r:embed="rId1"/>
          <a:stretch>
            <a:fillRect/>
          </a:stretch>
        </p:blipFill>
        <p:spPr>
          <a:xfrm>
            <a:off x="5417951" y="3985680"/>
            <a:ext cx="2576360" cy="1414995"/>
          </a:xfrm>
          <a:prstGeom prst="rect">
            <a:avLst/>
          </a:prstGeom>
          <a:noFill/>
          <a:ln w="9525">
            <a:noFill/>
          </a:ln>
        </p:spPr>
      </p:pic>
      <p:cxnSp>
        <p:nvCxnSpPr>
          <p:cNvPr id="6" name="Straight Arrow Connector 5"/>
          <p:cNvCxnSpPr/>
          <p:nvPr/>
        </p:nvCxnSpPr>
        <p:spPr>
          <a:xfrm flipV="1">
            <a:off x="6411247" y="4693178"/>
            <a:ext cx="0" cy="264629"/>
          </a:xfrm>
          <a:prstGeom prst="straightConnector1">
            <a:avLst/>
          </a:prstGeom>
          <a:noFill/>
          <a:ln w="9525">
            <a:no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1"/>
            <a:ext cx="8425339" cy="810128"/>
          </a:xfrm>
          <a:solidFill>
            <a:schemeClr val="bg1"/>
          </a:solidFill>
        </p:spPr>
        <p:txBody>
          <a:bodyPr>
            <a:normAutofit/>
          </a:bodyPr>
          <a:lstStyle/>
          <a:p>
            <a:r>
              <a:rPr lang="en-US" b="1" i="0" u="none" strike="noStrike" kern="2200" baseline="0" dirty="0" smtClean="0">
                <a:latin typeface="Times New Roman" panose="02020603050405020304"/>
              </a:rPr>
              <a:t>Research Methodology</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658911"/>
            <a:ext cx="8425339" cy="4741764"/>
          </a:xfrm>
          <a:solidFill>
            <a:schemeClr val="bg1"/>
          </a:solidFill>
        </p:spPr>
        <p:txBody>
          <a:bodyPr>
            <a:normAutofit fontScale="70000" lnSpcReduction="20000"/>
          </a:bodyPr>
          <a:lstStyle/>
          <a:p>
            <a:pPr marL="141605" indent="0">
              <a:buNone/>
            </a:pPr>
            <a:r>
              <a:rPr lang="en-US" altLang="zh-CN" b="1" i="0" u="none" strike="noStrike" baseline="0" dirty="0" smtClean="0">
                <a:latin typeface="Times New Roman" panose="02020603050405020304"/>
              </a:rPr>
              <a:t>                                           </a:t>
            </a:r>
            <a:r>
              <a:rPr lang="en-US" altLang="zh-CN" sz="4000" b="1" i="0" u="none" strike="noStrike" baseline="0" dirty="0" smtClean="0">
                <a:latin typeface="Times New Roman" panose="02020603050405020304"/>
              </a:rPr>
              <a:t>Research Method</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In this study, a mixed-methods research design will be adopted, specifically, descriptive survey design (quantitative) and qualitative research. Descriptive survey design is useful for gathering measurable data such as drop-out rates, kinds of domestic chores, or parental awareness, over a larger sample of respondents. Descriptive survey design will give the researcher the ability to quantify correlations and relationships between variables. </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qualitative component will involve interviews and focus group</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discussions with students, parents, and teachers, in order to gather their perspectives on how domestic chores impede girls' education. This qualitative method of inquiry will help elicit varying norms, some of which may be cultural or emotional in context and will vary from student to student, as well as all the contextual factors which are less easy to quantify. Bringing these two approaches together (mixed-methods) will add value to the study and deliver a more comprehensive understanding of the precept.</a:t>
            </a:r>
            <a:endParaRPr lang="en-US" altLang="zh-CN"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2"/>
            <a:ext cx="8425339" cy="810126"/>
          </a:xfrm>
          <a:solidFill>
            <a:schemeClr val="bg1"/>
          </a:solidFill>
        </p:spPr>
        <p:txBody>
          <a:bodyPr>
            <a:normAutofit/>
          </a:bodyPr>
          <a:lstStyle/>
          <a:p>
            <a:r>
              <a:rPr lang="en-US" b="1" i="0" u="none" strike="noStrike" kern="2200" baseline="0" dirty="0" smtClean="0">
                <a:latin typeface="Times New Roman" panose="02020603050405020304"/>
              </a:rPr>
              <a:t>Research Design</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658911"/>
            <a:ext cx="8425339" cy="4741764"/>
          </a:xfrm>
          <a:solidFill>
            <a:schemeClr val="bg1"/>
          </a:solidFill>
        </p:spPr>
        <p:txBody>
          <a:bodyPr>
            <a:normAutofit fontScale="77500" lnSpcReduction="20000"/>
          </a:bodyPr>
          <a:lstStyle/>
          <a:p>
            <a:r>
              <a:rPr lang="en-US" altLang="zh-CN" b="1" i="0" u="none" strike="noStrike" baseline="0" dirty="0" smtClean="0">
                <a:latin typeface="Times New Roman" panose="02020603050405020304"/>
              </a:rPr>
              <a:t>This study will adopt a mixed-methods research approach, specifically combining descriptive survey design (quantitative) and qualitative inquiry. The descriptive survey method is suitable for collecting measurable data on dropout rates,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types of domestic chores, and parental awareness across a broader sample. It allows the researcher to quantify trends and relationships among variables.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qualitative component will involve interviews and focus group discussions to capture in-depth perspectives from students, parents, and teachers on how domestic chores affect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education. This method will help uncover cultural norms, emotional experiences, and contextual factors that are not easily quantifiable. The integration of both methods will</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enrich the study by providing a comprehensive understanding of the issue.</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2"/>
            <a:ext cx="8425339" cy="810126"/>
          </a:xfrm>
          <a:solidFill>
            <a:schemeClr val="bg1"/>
          </a:solidFill>
        </p:spPr>
        <p:txBody>
          <a:bodyPr>
            <a:normAutofit/>
          </a:bodyPr>
          <a:lstStyle/>
          <a:p>
            <a:r>
              <a:rPr lang="en-US" b="1" i="0" u="none" strike="noStrike" kern="2200" baseline="0" dirty="0" smtClean="0">
                <a:latin typeface="Times New Roman" panose="02020603050405020304"/>
              </a:rPr>
              <a:t>Location of the Study</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658911"/>
            <a:ext cx="8425339" cy="4741764"/>
          </a:xfrm>
          <a:solidFill>
            <a:schemeClr val="bg1"/>
          </a:solidFill>
        </p:spPr>
        <p:txBody>
          <a:bodyPr>
            <a:normAutofit fontScale="77500" lnSpcReduction="20000"/>
          </a:bodyPr>
          <a:lstStyle/>
          <a:p>
            <a:r>
              <a:rPr lang="en-US" altLang="zh-CN" b="1" i="0" u="none" strike="noStrike" baseline="0" dirty="0" smtClean="0">
                <a:latin typeface="Times New Roman" panose="02020603050405020304"/>
              </a:rPr>
              <a:t>The research will take place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 which functions as one of the administrative units within </a:t>
            </a:r>
            <a:r>
              <a:rPr lang="en-US" altLang="zh-CN" b="1" i="0" u="none" strike="noStrike" baseline="0" dirty="0" err="1" smtClean="0">
                <a:latin typeface="Times New Roman" panose="02020603050405020304"/>
              </a:rPr>
              <a:t>Garissa</a:t>
            </a:r>
            <a:r>
              <a:rPr lang="en-US" altLang="zh-CN" b="1" i="0" u="none" strike="noStrike" baseline="0" dirty="0" smtClean="0">
                <a:latin typeface="Times New Roman" panose="02020603050405020304"/>
              </a:rPr>
              <a:t> County, Kenya. The region of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exists in a semi-arid environment and features substantial humble background families alongside nomadic pastoralist communities and restricted basic service access including educational facilities. The combination of social-economic conditions together with environmental aspects creates heightened susceptibility to educational gender inequalities in this particular area.</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study chose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as its research area because educational institutions and local NGOs documented significant school dropout statistics specifically affecting girls in this area. The sub-county presents an appropriate setting to study how household work affects educational opportunities for girls because of the traditional family requirements and domestic tasks that students must fulfill.</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1"/>
            <a:ext cx="8425339" cy="885736"/>
          </a:xfrm>
          <a:solidFill>
            <a:schemeClr val="bg1"/>
          </a:solidFill>
        </p:spPr>
        <p:txBody>
          <a:bodyPr>
            <a:normAutofit fontScale="90000"/>
          </a:bodyPr>
          <a:lstStyle/>
          <a:p>
            <a:r>
              <a:rPr lang="en-US" b="1" i="0" u="none" strike="noStrike" kern="2200" baseline="0" dirty="0" smtClean="0">
                <a:latin typeface="Times New Roman" panose="02020603050405020304"/>
              </a:rPr>
              <a:t>Population of the Study (Target Population)</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961344"/>
            <a:ext cx="8425339" cy="4439331"/>
          </a:xfrm>
          <a:solidFill>
            <a:schemeClr val="bg1"/>
          </a:solidFill>
        </p:spPr>
        <p:txBody>
          <a:bodyPr>
            <a:normAutofit fontScale="70000" lnSpcReduction="20000"/>
          </a:bodyPr>
          <a:lstStyle/>
          <a:p>
            <a:r>
              <a:rPr lang="en-US" altLang="zh-CN" b="1" i="0" u="none" strike="noStrike" baseline="0" dirty="0" smtClean="0">
                <a:latin typeface="Times New Roman" panose="02020603050405020304"/>
              </a:rPr>
              <a:t>The research sample will include students and teachers together with parents and education stakeholders who operate within public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of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 The study will center on female junior secondary students who face the possibility of school dropout or have already left because of domestic work.</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research will incorporate the following participants: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Students who attend public junior schools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as members of Grades 7 to 9</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Teachers along with guidance counselors who provide direct support to these students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Guardians or parents of specific girls who were chosen for the study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selected population contains individuals who directly experience and observe as well as make decisions about domestic chores affecting education.</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2"/>
            <a:ext cx="8425339" cy="885735"/>
          </a:xfrm>
          <a:solidFill>
            <a:schemeClr val="bg1"/>
          </a:solidFill>
        </p:spPr>
        <p:txBody>
          <a:bodyPr/>
          <a:lstStyle/>
          <a:p>
            <a:r>
              <a:rPr lang="en-US" b="1" i="0" u="none" strike="noStrike" kern="2200" baseline="0" dirty="0" smtClean="0">
                <a:latin typeface="Times New Roman" panose="02020603050405020304"/>
              </a:rPr>
              <a:t>Sampling Procedure</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658911"/>
            <a:ext cx="8425339" cy="4741764"/>
          </a:xfrm>
          <a:solidFill>
            <a:schemeClr val="bg1"/>
          </a:solidFill>
        </p:spPr>
        <p:txBody>
          <a:bodyPr>
            <a:normAutofit fontScale="70000" lnSpcReduction="20000"/>
          </a:bodyPr>
          <a:lstStyle/>
          <a:p>
            <a:r>
              <a:rPr lang="en-US" altLang="zh-CN" b="1" i="0" u="none" strike="noStrike" baseline="0" dirty="0" smtClean="0">
                <a:latin typeface="Times New Roman" panose="02020603050405020304"/>
              </a:rPr>
              <a:t>The research will use purposive and stratified random sampling methods that target only rural locations of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study will use purposive sampling to choose specific people who include </a:t>
            </a:r>
            <a:r>
              <a:rPr lang="en-US" altLang="zh-CN" b="1" i="0" u="none" strike="noStrike" baseline="0" dirty="0" err="1" smtClean="0">
                <a:latin typeface="Times New Roman" panose="02020603050405020304"/>
              </a:rPr>
              <a:t>headteachers</a:t>
            </a:r>
            <a:r>
              <a:rPr lang="en-US" altLang="zh-CN" b="1" i="0" u="none" strike="noStrike" baseline="0" dirty="0" smtClean="0">
                <a:latin typeface="Times New Roman" panose="02020603050405020304"/>
              </a:rPr>
              <a:t> and class teachers together with education officers and parents of girls who dropped out or face dropping out because of domestic work. These people get chosen through their understanding and direct involvement with the problem.</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study will implement stratified random sampling to select schools along with students who reside in the rural areas. The schools will be divided according to administrative zones that exist in </a:t>
            </a:r>
            <a:r>
              <a:rPr lang="en-US" altLang="zh-CN" b="1" i="0" u="none" strike="noStrike" baseline="0" dirty="0" err="1" smtClean="0">
                <a:latin typeface="Times New Roman" panose="02020603050405020304"/>
              </a:rPr>
              <a:t>Lagdera</a:t>
            </a:r>
            <a:r>
              <a:rPr lang="en-US" altLang="zh-CN" b="1" i="0" u="none" strike="noStrike" baseline="0" dirty="0" smtClean="0">
                <a:latin typeface="Times New Roman" panose="02020603050405020304"/>
              </a:rPr>
              <a:t> Sub-County. A random selection of rural schools will be taken from each</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administrative zone during the sampling process. The selected schools will randomly select girls from Grades 7 to 9 to take part in the research.</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methodology provides a complete understanding regarding why girls in rural areas drop out of school.</a:t>
            </a:r>
            <a:endParaRPr lang="en-US" altLang="zh-CN" b="1" i="0" u="none" strike="noStrike" baseline="0" dirty="0" smtClean="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2"/>
            <a:ext cx="8425339" cy="810126"/>
          </a:xfrm>
          <a:solidFill>
            <a:schemeClr val="bg1"/>
          </a:solidFill>
        </p:spPr>
        <p:txBody>
          <a:bodyPr/>
          <a:lstStyle/>
          <a:p>
            <a:r>
              <a:rPr lang="en-US" b="1" i="0" u="none" strike="noStrike" kern="2200" baseline="0" dirty="0" smtClean="0">
                <a:latin typeface="Times New Roman" panose="02020603050405020304"/>
              </a:rPr>
              <a:t>The Sample Size</a:t>
            </a:r>
            <a:endParaRPr lang="en-US" b="1" i="0" u="none" strike="noStrike" kern="2200" baseline="0" dirty="0" smtClean="0">
              <a:latin typeface="Times New Roman" panose="02020603050405020304"/>
            </a:endParaRP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468075" y="658911"/>
                <a:ext cx="8425339" cy="4914546"/>
              </a:xfrm>
              <a:solidFill>
                <a:schemeClr val="bg1"/>
              </a:solidFill>
            </p:spPr>
            <p:txBody>
              <a:bodyPr>
                <a:normAutofit fontScale="62500" lnSpcReduction="20000"/>
              </a:bodyPr>
              <a:lstStyle/>
              <a:p>
                <a:pPr marL="141605" indent="0">
                  <a:buNone/>
                </a:pPr>
                <a:r>
                  <a:rPr lang="en-US" altLang="zh-CN" b="1" i="0" u="none" strike="noStrike" baseline="0" dirty="0" smtClean="0">
                    <a:latin typeface="Times New Roman" panose="02020603050405020304"/>
                  </a:rPr>
                  <a:t>The sample size will be determined using Yamane’s formula (1967) for finite </a:t>
                </a:r>
                <a:r>
                  <a:rPr lang="en-US" altLang="zh-CN" b="1" i="0" u="none" strike="noStrike" baseline="0" dirty="0" smtClean="0">
                    <a:latin typeface="Times New Roman" panose="02020603050405020304"/>
                  </a:rPr>
                  <a:t>populations:e2</a:t>
                </a:r>
                <a:endParaRPr lang="en-US" altLang="zh-CN" b="1" dirty="0">
                  <a:latin typeface="Times New Roman" panose="02020603050405020304"/>
                </a:endParaRPr>
              </a:p>
              <a:p>
                <a:pPr marL="141605" indent="0">
                  <a:buNone/>
                </a:pPr>
                <a:r>
                  <a:rPr lang="en-US" altLang="zh-CN" b="1" i="0" u="none" strike="noStrike" baseline="0" dirty="0" smtClean="0">
                    <a:latin typeface="Times New Roman" panose="02020603050405020304"/>
                  </a:rPr>
                  <a:t>                     </a:t>
                </a:r>
                <a14:m>
                  <m:oMath xmlns:m="http://schemas.openxmlformats.org/officeDocument/2006/math">
                    <m:r>
                      <m:rPr>
                        <m:nor/>
                      </m:rPr>
                      <a:rPr lang="en-US" b="1">
                        <a:latin typeface="Cambria Math" panose="02040503050406030204" charset="0"/>
                      </a:rPr>
                      <m:t>n</m:t>
                    </m:r>
                    <m:r>
                      <m:rPr>
                        <m:nor/>
                      </m:rPr>
                      <a:rPr lang="en-US" b="1">
                        <a:latin typeface="Cambria Math" panose="02040503050406030204" charset="0"/>
                      </a:rPr>
                      <m:t>=</m:t>
                    </m:r>
                    <m:f>
                      <m:fPr>
                        <m:ctrlPr>
                          <a:rPr lang="en-US" b="1" i="1"/>
                        </m:ctrlPr>
                      </m:fPr>
                      <m:num>
                        <m:r>
                          <m:rPr>
                            <m:nor/>
                          </m:rPr>
                          <a:rPr lang="en-US" b="1">
                            <a:latin typeface="Cambria Math" panose="02040503050406030204" charset="0"/>
                          </a:rPr>
                          <m:t>N</m:t>
                        </m:r>
                      </m:num>
                      <m:den>
                        <m:r>
                          <m:rPr>
                            <m:nor/>
                          </m:rPr>
                          <a:rPr lang="en-US" b="1">
                            <a:latin typeface="Cambria Math" panose="02040503050406030204" charset="0"/>
                          </a:rPr>
                          <m:t>1</m:t>
                        </m:r>
                        <m:r>
                          <m:rPr>
                            <m:nor/>
                          </m:rPr>
                          <a:rPr lang="en-US" b="1">
                            <a:latin typeface="Cambria Math" panose="02040503050406030204" charset="0"/>
                          </a:rPr>
                          <m:t> + </m:t>
                        </m:r>
                        <m:r>
                          <m:rPr>
                            <m:nor/>
                          </m:rPr>
                          <a:rPr lang="en-US" b="1">
                            <a:latin typeface="Cambria Math" panose="02040503050406030204" charset="0"/>
                          </a:rPr>
                          <m:t>N</m:t>
                        </m:r>
                        <m:r>
                          <m:rPr>
                            <m:nor/>
                          </m:rPr>
                          <a:rPr lang="en-US" b="1">
                            <a:latin typeface="Cambria Math" panose="02040503050406030204" charset="0"/>
                          </a:rPr>
                          <m:t>(</m:t>
                        </m:r>
                        <m:r>
                          <m:rPr>
                            <m:nor/>
                          </m:rPr>
                          <a:rPr lang="en-US" b="1">
                            <a:latin typeface="Cambria Math" panose="02040503050406030204" charset="0"/>
                          </a:rPr>
                          <m:t>e</m:t>
                        </m:r>
                        <m:r>
                          <m:rPr>
                            <m:nor/>
                          </m:rPr>
                          <a:rPr lang="en-US" b="1">
                            <a:latin typeface="Cambria Math" panose="02040503050406030204" charset="0"/>
                          </a:rPr>
                          <m:t>)</m:t>
                        </m:r>
                        <m:r>
                          <m:rPr>
                            <m:nor/>
                          </m:rPr>
                          <a:rPr lang="en-US" b="1">
                            <a:latin typeface="Cambria Math" panose="02040503050406030204" charset="0"/>
                          </a:rPr>
                          <m:t>2</m:t>
                        </m:r>
                      </m:den>
                    </m:f>
                  </m:oMath>
                </a14:m>
                <a:endParaRPr lang="zh-CN" altLang="en-US" b="1" i="0" u="none" strike="noStrike" baseline="0" dirty="0" smtClean="0">
                  <a:latin typeface="Times New Roman" panose="02020603050405020304"/>
                </a:endParaRPr>
              </a:p>
              <a:p>
                <a:pPr marL="141605" indent="0">
                  <a:buNone/>
                </a:pPr>
                <a:r>
                  <a:rPr lang="en-US" altLang="zh-CN" b="1" i="0" u="none" strike="noStrike" baseline="0" dirty="0" smtClean="0">
                    <a:latin typeface="Times New Roman" panose="02020603050405020304"/>
                  </a:rPr>
                  <a:t> Where: n = desired sample size, N = estimated population size, e = level of precision (usually set at 0.05 for 95% confidence)</a:t>
                </a:r>
                <a:endParaRPr lang="en-US" altLang="zh-CN" b="1" i="0" u="none" strike="noStrike" baseline="0" dirty="0" smtClean="0">
                  <a:latin typeface="Times New Roman" panose="02020603050405020304"/>
                </a:endParaRPr>
              </a:p>
              <a:p>
                <a:pPr marL="141605" indent="0">
                  <a:buNone/>
                </a:pPr>
                <a:endParaRPr lang="en-US" altLang="zh-CN" b="1" i="0" u="none" strike="noStrike" baseline="0" dirty="0" smtClean="0">
                  <a:latin typeface="Times New Roman" panose="02020603050405020304"/>
                </a:endParaRPr>
              </a:p>
              <a:p>
                <a:pPr marL="141605" indent="0">
                  <a:buNone/>
                </a:pPr>
                <a:r>
                  <a:rPr lang="en-US" altLang="zh-CN" b="1" i="0" u="none" strike="noStrike" baseline="0" dirty="0" smtClean="0">
                    <a:latin typeface="Times New Roman" panose="02020603050405020304"/>
                  </a:rPr>
                  <a:t>The total target population is approximately 150, and using a 95% confidence level:</a:t>
                </a:r>
                <a:endParaRPr lang="en-US" altLang="zh-CN" b="1" i="0" u="none" strike="noStrike" baseline="0" dirty="0" smtClean="0">
                  <a:latin typeface="Times New Roman" panose="02020603050405020304"/>
                </a:endParaRPr>
              </a:p>
              <a:p>
                <a:pPr marL="141605" indent="0">
                  <a:buNone/>
                </a:pPr>
                <a:r>
                  <a:rPr lang="en-US" altLang="zh-CN" b="1" dirty="0">
                    <a:latin typeface="Times New Roman" panose="02020603050405020304"/>
                  </a:rPr>
                  <a:t> </a:t>
                </a:r>
                <a:r>
                  <a:rPr lang="en-US" altLang="zh-CN" b="1" dirty="0" smtClean="0">
                    <a:latin typeface="Times New Roman" panose="02020603050405020304"/>
                  </a:rPr>
                  <a:t>          </a:t>
                </a:r>
                <a14:m>
                  <m:oMath xmlns:m="http://schemas.openxmlformats.org/officeDocument/2006/math">
                    <m:r>
                      <m:rPr>
                        <m:nor/>
                      </m:rPr>
                      <a:rPr lang="en-US" b="1">
                        <a:latin typeface="Cambria Math" panose="02040503050406030204" charset="0"/>
                      </a:rPr>
                      <m:t>n</m:t>
                    </m:r>
                    <m:r>
                      <m:rPr>
                        <m:nor/>
                      </m:rPr>
                      <a:rPr lang="en-US" b="1">
                        <a:latin typeface="Cambria Math" panose="02040503050406030204" charset="0"/>
                      </a:rPr>
                      <m:t> = </m:t>
                    </m:r>
                    <m:f>
                      <m:fPr>
                        <m:ctrlPr>
                          <a:rPr lang="en-US" b="1" i="1"/>
                        </m:ctrlPr>
                      </m:fPr>
                      <m:num>
                        <m:r>
                          <m:rPr>
                            <m:nor/>
                          </m:rPr>
                          <a:rPr lang="en-US" b="1">
                            <a:latin typeface="Cambria Math" panose="02040503050406030204" charset="0"/>
                          </a:rPr>
                          <m:t>150</m:t>
                        </m:r>
                      </m:num>
                      <m:den>
                        <m:r>
                          <m:rPr>
                            <m:nor/>
                          </m:rPr>
                          <a:rPr lang="en-US" b="1">
                            <a:latin typeface="Cambria Math" panose="02040503050406030204" charset="0"/>
                          </a:rPr>
                          <m:t>1</m:t>
                        </m:r>
                        <m:r>
                          <m:rPr>
                            <m:nor/>
                          </m:rPr>
                          <a:rPr lang="en-US" b="1">
                            <a:latin typeface="Cambria Math" panose="02040503050406030204" charset="0"/>
                          </a:rPr>
                          <m:t> + </m:t>
                        </m:r>
                        <m:r>
                          <m:rPr>
                            <m:nor/>
                          </m:rPr>
                          <a:rPr lang="en-US" b="1">
                            <a:latin typeface="Cambria Math" panose="02040503050406030204" charset="0"/>
                          </a:rPr>
                          <m:t>150</m:t>
                        </m:r>
                        <m:r>
                          <m:rPr>
                            <m:nor/>
                          </m:rPr>
                          <a:rPr lang="en-US" b="1">
                            <a:latin typeface="Cambria Math" panose="02040503050406030204" charset="0"/>
                          </a:rPr>
                          <m:t>(</m:t>
                        </m:r>
                        <m:r>
                          <m:rPr>
                            <m:nor/>
                          </m:rPr>
                          <a:rPr lang="en-US" b="1">
                            <a:latin typeface="Cambria Math" panose="02040503050406030204" charset="0"/>
                          </a:rPr>
                          <m:t>0</m:t>
                        </m:r>
                        <m:r>
                          <m:rPr>
                            <m:nor/>
                          </m:rPr>
                          <a:rPr lang="en-US" b="1">
                            <a:latin typeface="Cambria Math" panose="02040503050406030204" charset="0"/>
                          </a:rPr>
                          <m:t>.</m:t>
                        </m:r>
                        <m:r>
                          <m:rPr>
                            <m:nor/>
                          </m:rPr>
                          <a:rPr lang="en-US" b="1">
                            <a:latin typeface="Cambria Math" panose="02040503050406030204" charset="0"/>
                          </a:rPr>
                          <m:t>05</m:t>
                        </m:r>
                        <m:r>
                          <m:rPr>
                            <m:nor/>
                          </m:rPr>
                          <a:rPr lang="en-US" b="1" i="1">
                            <a:latin typeface="Cambria Math" panose="02040503050406030204" charset="0"/>
                          </a:rPr>
                          <m:t>∗</m:t>
                        </m:r>
                        <m:r>
                          <m:rPr>
                            <m:nor/>
                          </m:rPr>
                          <a:rPr lang="en-US" b="1">
                            <a:latin typeface="Cambria Math" panose="02040503050406030204" charset="0"/>
                          </a:rPr>
                          <m:t>0</m:t>
                        </m:r>
                        <m:r>
                          <m:rPr>
                            <m:nor/>
                          </m:rPr>
                          <a:rPr lang="en-US" b="1">
                            <a:latin typeface="Cambria Math" panose="02040503050406030204" charset="0"/>
                          </a:rPr>
                          <m:t>.</m:t>
                        </m:r>
                        <m:r>
                          <m:rPr>
                            <m:nor/>
                          </m:rPr>
                          <a:rPr lang="en-US" b="1">
                            <a:latin typeface="Cambria Math" panose="02040503050406030204" charset="0"/>
                          </a:rPr>
                          <m:t>05</m:t>
                        </m:r>
                        <m:r>
                          <m:rPr>
                            <m:nor/>
                          </m:rPr>
                          <a:rPr lang="en-US" b="1">
                            <a:latin typeface="Cambria Math" panose="02040503050406030204" charset="0"/>
                          </a:rPr>
                          <m:t>)</m:t>
                        </m:r>
                      </m:den>
                    </m:f>
                  </m:oMath>
                </a14:m>
                <a:r>
                  <a:rPr lang="en-US" b="1" dirty="0"/>
                  <a:t>  = </a:t>
                </a:r>
                <a14:m>
                  <m:oMath xmlns:m="http://schemas.openxmlformats.org/officeDocument/2006/math">
                    <m:r>
                      <m:rPr>
                        <m:nor/>
                      </m:rPr>
                      <a:rPr lang="en-US" b="1">
                        <a:latin typeface="Cambria Math" panose="02040503050406030204" charset="0"/>
                      </a:rPr>
                      <m:t>10</m:t>
                    </m:r>
                  </m:oMath>
                </a14:m>
                <a:r>
                  <a:rPr lang="en-US" b="1" dirty="0"/>
                  <a:t>9</a:t>
                </a:r>
                <a:endParaRPr lang="en-US" altLang="zh-CN" b="1" i="0" u="none" strike="noStrike" baseline="0" dirty="0" smtClean="0">
                  <a:latin typeface="Times New Roman" panose="02020603050405020304"/>
                </a:endParaRPr>
              </a:p>
              <a:p>
                <a:pPr marL="141605" lvl="0" indent="0">
                  <a:buNone/>
                </a:pPr>
                <a:r>
                  <a:rPr lang="en-US" altLang="zh-CN" b="1" i="0" u="none" strike="noStrike" baseline="0" dirty="0" smtClean="0">
                    <a:latin typeface="Times New Roman" panose="02020603050405020304"/>
                  </a:rPr>
                  <a:t>Thus, a sample size of approximately</a:t>
                </a:r>
                <a:r>
                  <a:rPr lang="en-US" altLang="zh-CN" b="1" dirty="0">
                    <a:latin typeface="Times New Roman" panose="02020603050405020304"/>
                  </a:rPr>
                  <a:t> </a:t>
                </a:r>
                <a14:m>
                  <m:oMath xmlns:m="http://schemas.openxmlformats.org/officeDocument/2006/math">
                    <m:r>
                      <m:rPr>
                        <m:nor/>
                      </m:rPr>
                      <a:rPr lang="en-US">
                        <a:latin typeface="Cambria Math" panose="02040503050406030204" charset="0"/>
                      </a:rPr>
                      <m:t>10</m:t>
                    </m:r>
                  </m:oMath>
                </a14:m>
                <a:r>
                  <a:rPr lang="en-US" dirty="0"/>
                  <a:t>9</a:t>
                </a:r>
                <a:r>
                  <a:rPr lang="en-US" dirty="0" smtClean="0"/>
                  <a:t> </a:t>
                </a:r>
                <a:r>
                  <a:rPr lang="en-US" altLang="zh-CN" b="1" i="0" u="none" strike="noStrike" baseline="0" dirty="0" smtClean="0">
                    <a:latin typeface="Times New Roman" panose="02020603050405020304"/>
                  </a:rPr>
                  <a:t>respondents </a:t>
                </a:r>
                <a:r>
                  <a:rPr lang="en-US" altLang="zh-CN" b="1" i="0" u="none" strike="noStrike" baseline="0" dirty="0" smtClean="0">
                    <a:latin typeface="Times New Roman" panose="02020603050405020304"/>
                  </a:rPr>
                  <a:t>will be selected, distributed as follows:</a:t>
                </a:r>
                <a:endParaRPr lang="en-US" altLang="zh-CN" b="1" i="0" u="none" strike="noStrike" baseline="0" dirty="0" smtClean="0">
                  <a:latin typeface="Times New Roman" panose="02020603050405020304"/>
                </a:endParaRPr>
              </a:p>
              <a:p>
                <a:pPr marL="141605" indent="0">
                  <a:buNone/>
                </a:pPr>
                <a:r>
                  <a:rPr lang="en-US" altLang="zh-CN" b="1" i="0" u="none" strike="noStrike" baseline="0" dirty="0" smtClean="0">
                    <a:latin typeface="Times New Roman" panose="02020603050405020304"/>
                  </a:rPr>
                  <a:t>54</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students (girls in junior</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school)</a:t>
                </a:r>
                <a:endParaRPr lang="en-US" altLang="zh-CN" b="1" i="0" u="none" strike="noStrike" baseline="0" dirty="0" smtClean="0">
                  <a:latin typeface="Times New Roman" panose="02020603050405020304"/>
                </a:endParaRPr>
              </a:p>
              <a:p>
                <a:pPr marL="141605" indent="0">
                  <a:buNone/>
                </a:pPr>
                <a:r>
                  <a:rPr lang="en-US" altLang="zh-CN" b="1" i="0" u="none" strike="noStrike" baseline="0" dirty="0" smtClean="0">
                    <a:latin typeface="Times New Roman" panose="02020603050405020304"/>
                  </a:rPr>
                  <a:t>34</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parents</a:t>
                </a:r>
                <a:endParaRPr lang="en-US" altLang="zh-CN" b="1" i="0" u="none" strike="noStrike" baseline="0" dirty="0" smtClean="0">
                  <a:latin typeface="Times New Roman" panose="02020603050405020304"/>
                </a:endParaRPr>
              </a:p>
              <a:p>
                <a:pPr marL="141605" indent="0">
                  <a:buNone/>
                </a:pPr>
                <a:r>
                  <a:rPr lang="en-US" altLang="zh-CN" b="1" i="0" u="none" strike="noStrike" baseline="0" dirty="0" smtClean="0">
                    <a:latin typeface="Times New Roman" panose="02020603050405020304"/>
                  </a:rPr>
                  <a:t>21</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teachers.</a:t>
                </a:r>
                <a:endParaRPr lang="en-US" altLang="zh-CN" b="1" i="0" u="none" strike="noStrike" baseline="0" dirty="0" smtClean="0">
                  <a:latin typeface="Times New Roman" panose="02020603050405020304"/>
                </a:endParaRPr>
              </a:p>
              <a:p>
                <a:pPr marL="141605" indent="0">
                  <a:buNone/>
                </a:pPr>
                <a:endParaRPr lang="en-US" altLang="zh-CN" b="1" i="0" u="none" strike="noStrike" baseline="0" dirty="0" smtClean="0">
                  <a:latin typeface="Times New Roman" panose="02020603050405020304"/>
                </a:endParaRPr>
              </a:p>
              <a:p>
                <a:pPr marL="141605" indent="0">
                  <a:buNone/>
                </a:pPr>
                <a:r>
                  <a:rPr lang="en-US" altLang="zh-CN" b="1" i="0" u="none" strike="noStrike" baseline="0" dirty="0" smtClean="0">
                    <a:latin typeface="Times New Roman" panose="02020603050405020304"/>
                  </a:rPr>
                  <a:t>This stratified distribution ensures representation across key stakeholders while maintaining statistical reliability.</a:t>
                </a:r>
                <a:endParaRPr lang="zh-CN" altLang="en-US" b="1" i="0" u="none" strike="noStrike" baseline="0" dirty="0" smtClean="0">
                  <a:latin typeface="Times New Roman" panose="02020603050405020304"/>
                </a:endParaRPr>
              </a:p>
            </p:txBody>
          </p:sp>
        </mc:Choice>
        <mc:Fallback>
          <p:sp>
            <p:nvSpPr>
              <p:cNvPr id="3" name="Text Placeholder 2"/>
              <p:cNvSpPr>
                <a:spLocks noRot="1" noChangeAspect="1" noMove="1" noResize="1" noEditPoints="1" noAdjustHandles="1" noChangeArrowheads="1" noChangeShapeType="1" noTextEdit="1"/>
              </p:cNvSpPr>
              <p:nvPr>
                <p:ph type="body" idx="1"/>
              </p:nvPr>
            </p:nvSpPr>
            <p:spPr>
              <a:xfrm>
                <a:off x="468075" y="658911"/>
                <a:ext cx="8425339" cy="4914546"/>
              </a:xfrm>
              <a:blipFill rotWithShape="1">
                <a:blip r:embed="rId1"/>
                <a:stretch>
                  <a:fillRect l="-1" t="-8" r="3" b="1"/>
                </a:stretch>
              </a:blipFill>
            </p:spPr>
            <p:txBody>
              <a:bodyPr/>
              <a:lstStyle/>
              <a:p>
                <a:r>
                  <a:rPr lang="en-GB" altLang="en-US">
                    <a:noFill/>
                  </a:rPr>
                  <a:t> </a:t>
                </a:r>
              </a:p>
            </p:txBody>
          </p:sp>
        </mc:Fallback>
      </mc:AlternateContent>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r>
              <a:rPr lang="en-US" b="1" i="0" u="none" strike="noStrike" kern="2200" baseline="0" dirty="0" smtClean="0">
                <a:latin typeface="Times New Roman" panose="02020603050405020304"/>
              </a:rPr>
              <a:t>Instrumentation</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solidFill>
            <a:schemeClr val="bg1"/>
          </a:solidFill>
        </p:spPr>
        <p:txBody>
          <a:bodyPr/>
          <a:lstStyle/>
          <a:p>
            <a:r>
              <a:rPr lang="en-US" altLang="zh-CN" b="1" i="0" u="none" strike="noStrike" baseline="0" dirty="0" smtClean="0">
                <a:latin typeface="Times New Roman" panose="02020603050405020304"/>
              </a:rPr>
              <a:t>The research approach will employ both quantitative and qualitative instruments to obtain complete data:</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lstStyle/>
          <a:p>
            <a:r>
              <a:rPr lang="en-US" b="1" i="0" u="none" strike="noStrike" kern="2200" baseline="0" dirty="0" smtClean="0">
                <a:latin typeface="Times New Roman" panose="02020603050405020304"/>
              </a:rPr>
              <a:t>Questionnaires: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solidFill>
            <a:schemeClr val="bg1"/>
          </a:solidFill>
        </p:spPr>
        <p:txBody>
          <a:bodyPr>
            <a:normAutofit fontScale="92500" lnSpcReduction="10000"/>
          </a:bodyPr>
          <a:lstStyle/>
          <a:p>
            <a:pPr marL="141605" indent="0">
              <a:buNone/>
            </a:pPr>
            <a:r>
              <a:rPr lang="en-US" altLang="zh-CN" b="1" i="0" u="none" strike="noStrike" baseline="0" dirty="0" smtClean="0">
                <a:latin typeface="Times New Roman" panose="02020603050405020304"/>
              </a:rPr>
              <a:t>The research will distribute structured questionnaires to students and their parents. The questionnaires will use both closed-ended questions and </a:t>
            </a:r>
            <a:r>
              <a:rPr lang="en-US" altLang="zh-CN" b="1" i="0" u="none" strike="noStrike" baseline="0" dirty="0" err="1" smtClean="0">
                <a:latin typeface="Times New Roman" panose="02020603050405020304"/>
              </a:rPr>
              <a:t>Likert</a:t>
            </a:r>
            <a:r>
              <a:rPr lang="en-US" altLang="zh-CN" b="1" i="0" u="none" strike="noStrike" baseline="0" dirty="0" smtClean="0">
                <a:latin typeface="Times New Roman" panose="02020603050405020304"/>
              </a:rPr>
              <a:t>-scale items to gather data about:</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Types of domestic chores performed by girls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Frequency and duration of chores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study will measure how domestic responsibilities affect school attendance as well as homework completion.</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rmAutofit/>
          </a:bodyPr>
          <a:lstStyle/>
          <a:p>
            <a:r>
              <a:rPr lang="en-US" b="1" i="0" u="none" strike="noStrike" kern="2200" baseline="0" dirty="0" smtClean="0">
                <a:latin typeface="Times New Roman" panose="02020603050405020304"/>
              </a:rPr>
              <a:t>Interview Schedules: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solidFill>
            <a:schemeClr val="bg1"/>
          </a:solidFill>
        </p:spPr>
        <p:txBody>
          <a:bodyPr>
            <a:normAutofit fontScale="92500"/>
          </a:bodyPr>
          <a:lstStyle/>
          <a:p>
            <a:pPr marL="141605" indent="0">
              <a:buNone/>
            </a:pPr>
            <a:r>
              <a:rPr lang="en-US" altLang="zh-CN" b="1" i="0" u="none" strike="noStrike" baseline="0" dirty="0" smtClean="0">
                <a:latin typeface="Times New Roman" panose="02020603050405020304"/>
              </a:rPr>
              <a:t>The study will implement semi-structured interview guides for both teachers and key informants like education stakeholders and community leaders. These interviews will gather profound understanding about:</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participants' beliefs about  household tasks alongside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school dropout patterns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participants' observations regarding community standards and parental understanding</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1"/>
            <a:ext cx="8425339" cy="885736"/>
          </a:xfrm>
          <a:solidFill>
            <a:schemeClr val="bg1"/>
          </a:solidFill>
        </p:spPr>
        <p:txBody>
          <a:bodyPr>
            <a:normAutofit/>
          </a:bodyPr>
          <a:lstStyle/>
          <a:p>
            <a:r>
              <a:rPr lang="en-US" b="1" i="0" u="none" strike="noStrike" kern="2200" baseline="0" dirty="0" smtClean="0">
                <a:latin typeface="Times New Roman" panose="02020603050405020304"/>
              </a:rPr>
              <a:t>Document Analysis Guide:</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658911"/>
            <a:ext cx="8425339" cy="4309710"/>
          </a:xfrm>
          <a:solidFill>
            <a:schemeClr val="bg1"/>
          </a:solidFill>
        </p:spPr>
        <p:txBody>
          <a:bodyPr/>
          <a:lstStyle/>
          <a:p>
            <a:pPr marL="141605" indent="0">
              <a:buNone/>
            </a:pPr>
            <a:r>
              <a:rPr lang="en-US" altLang="zh-CN" b="1" i="0" u="none" strike="noStrike" baseline="0" dirty="0" smtClean="0">
                <a:latin typeface="Times New Roman" panose="02020603050405020304"/>
              </a:rPr>
              <a:t>The study will analyze school records through a checklist to evaluate the following:</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Grade 6 girls enrollment, junior school enrollment and attendance registers.</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rmAutofit fontScale="90000"/>
          </a:bodyPr>
          <a:lstStyle/>
          <a:p>
            <a:r>
              <a:rPr lang="en-US" b="1" i="0" u="none" strike="noStrike" kern="2200" baseline="0" dirty="0" smtClean="0">
                <a:latin typeface="Times New Roman" panose="02020603050405020304"/>
              </a:rPr>
              <a:t>Assessment and Performance reports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solidFill>
            <a:schemeClr val="bg1"/>
          </a:solidFill>
        </p:spPr>
        <p:txBody>
          <a:bodyPr/>
          <a:lstStyle/>
          <a:p>
            <a:r>
              <a:rPr lang="en-US" altLang="zh-CN" b="1" i="0" u="none" strike="noStrike" baseline="0" dirty="0" smtClean="0">
                <a:latin typeface="Times New Roman" panose="02020603050405020304"/>
              </a:rPr>
              <a:t>Analyze grade 6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enrollment and dropouts during the previous 2–3 years at junior school level.</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The implementation of these three research instruments enables data triangulation which strengthens both the reliability and validity of the research results.</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75" y="1"/>
            <a:ext cx="8425339" cy="885736"/>
          </a:xfrm>
          <a:solidFill>
            <a:schemeClr val="bg1"/>
          </a:solidFill>
        </p:spPr>
        <p:txBody>
          <a:bodyPr>
            <a:normAutofit fontScale="90000"/>
          </a:bodyPr>
          <a:lstStyle/>
          <a:p>
            <a:r>
              <a:rPr lang="en-US" b="1" i="0" u="none" strike="noStrike" kern="2200" baseline="0" dirty="0" smtClean="0">
                <a:latin typeface="Times New Roman" panose="02020603050405020304"/>
              </a:rPr>
              <a:t>Validity and reliability of Instruments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468075" y="658911"/>
            <a:ext cx="8425339" cy="4309710"/>
          </a:xfrm>
          <a:solidFill>
            <a:schemeClr val="bg1"/>
          </a:solidFill>
        </p:spPr>
        <p:txBody>
          <a:bodyPr>
            <a:normAutofit fontScale="62500" lnSpcReduction="20000"/>
          </a:bodyPr>
          <a:lstStyle/>
          <a:p>
            <a:r>
              <a:rPr lang="en-US" altLang="zh-CN" b="1" i="0" u="none" strike="noStrike" baseline="0" dirty="0" smtClean="0">
                <a:latin typeface="Times New Roman" panose="02020603050405020304"/>
              </a:rPr>
              <a:t>Validity refers to the extent to which the research instruments measure what they are intended to measure. To ensure content validity, the instruments (questionnaires, interview schedules, and document analysis guide) will be developed under the guidance of education experts and research supervisors. The tools will be carefully reviewed to ensure they align with the research objectives and adequately capture information on domestic chores, school attendance, and</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dropout rates. A pilot study will be conducted in a neighboring sub-county with similar characteristics to test clarity, appropriateness, and comprehensiveness of the questions.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Reliability refers to the consistency of the research instruments. To ensure reliability, the instruments will be administered during the pilot study and tested using the test-retest method. This involves giving the same instrument to the same group twice within a short period and correlating the results. A reliability coefficient (e.g., </a:t>
            </a:r>
            <a:r>
              <a:rPr lang="en-US" altLang="zh-CN" b="1" i="0" u="none" strike="noStrike" baseline="0" dirty="0" err="1" smtClean="0">
                <a:latin typeface="Times New Roman" panose="02020603050405020304"/>
              </a:rPr>
              <a:t>Cronbach's</a:t>
            </a:r>
            <a:r>
              <a:rPr lang="en-US" altLang="zh-CN" b="1" i="0" u="none" strike="noStrike" baseline="0" dirty="0" smtClean="0">
                <a:latin typeface="Times New Roman" panose="02020603050405020304"/>
              </a:rPr>
              <a:t> Alpha for </a:t>
            </a:r>
            <a:r>
              <a:rPr lang="en-US" altLang="zh-CN" b="1" i="0" u="none" strike="noStrike" baseline="0" dirty="0" err="1" smtClean="0">
                <a:latin typeface="Times New Roman" panose="02020603050405020304"/>
              </a:rPr>
              <a:t>Likert</a:t>
            </a:r>
            <a:r>
              <a:rPr lang="en-US" altLang="zh-CN" b="1" i="0" u="none" strike="noStrike" baseline="0" dirty="0" smtClean="0">
                <a:latin typeface="Times New Roman" panose="02020603050405020304"/>
              </a:rPr>
              <a:t>-scale items) of 0.7 or higher will be considered acceptable, indicating that the instrument consistently measures the intended constructs.</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361487" cy="885736"/>
          </a:xfrm>
          <a:solidFill>
            <a:schemeClr val="bg1"/>
          </a:solidFill>
        </p:spPr>
        <p:txBody>
          <a:bodyPr>
            <a:normAutofit/>
          </a:bodyPr>
          <a:lstStyle/>
          <a:p>
            <a:r>
              <a:rPr lang="en-US" b="1" i="0" u="none" strike="noStrike" kern="2200" baseline="0" dirty="0" smtClean="0">
                <a:latin typeface="Times New Roman" panose="02020603050405020304"/>
              </a:rPr>
              <a:t>Data Collection Procedure</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0" y="658911"/>
            <a:ext cx="9361487" cy="4838938"/>
          </a:xfrm>
          <a:solidFill>
            <a:schemeClr val="bg1"/>
          </a:solidFill>
        </p:spPr>
        <p:txBody>
          <a:bodyPr>
            <a:noAutofit/>
          </a:bodyPr>
          <a:lstStyle/>
          <a:p>
            <a:r>
              <a:rPr lang="en-US" altLang="zh-CN" sz="2100" b="1" dirty="0">
                <a:latin typeface="Times New Roman" panose="02020603050405020304"/>
              </a:rPr>
              <a:t>Data collection will follow a structured and ethical process. First, the researcher will obtain the necessary approvals from relevant authorities, including the university ethics committee and the Ministry of Education in </a:t>
            </a:r>
            <a:r>
              <a:rPr lang="en-US" altLang="zh-CN" sz="2100" b="1" dirty="0" err="1">
                <a:latin typeface="Times New Roman" panose="02020603050405020304"/>
              </a:rPr>
              <a:t>Garissa</a:t>
            </a:r>
            <a:r>
              <a:rPr lang="en-US" altLang="zh-CN" sz="2100" b="1" dirty="0">
                <a:latin typeface="Times New Roman" panose="02020603050405020304"/>
              </a:rPr>
              <a:t> County. Upon receiving consent, the researcher will engage school heads to coordinate the study schedule and gain access to participants.</a:t>
            </a:r>
            <a:endParaRPr lang="en-US" altLang="zh-CN" sz="2100" b="1" dirty="0">
              <a:latin typeface="Times New Roman" panose="02020603050405020304"/>
            </a:endParaRPr>
          </a:p>
          <a:p>
            <a:r>
              <a:rPr lang="en-US" altLang="zh-CN" sz="2100" b="1" dirty="0">
                <a:latin typeface="Times New Roman" panose="02020603050405020304"/>
              </a:rPr>
              <a:t>The researcher will then visit selected rural junior schools</a:t>
            </a:r>
            <a:r>
              <a:rPr lang="zh-CN" altLang="en-US" sz="2100" b="1" dirty="0">
                <a:latin typeface="Times New Roman" panose="02020603050405020304"/>
              </a:rPr>
              <a:t> </a:t>
            </a:r>
            <a:r>
              <a:rPr lang="en-US" altLang="zh-CN" sz="2100" b="1" dirty="0">
                <a:latin typeface="Times New Roman" panose="02020603050405020304"/>
              </a:rPr>
              <a:t>in </a:t>
            </a:r>
            <a:r>
              <a:rPr lang="en-US" altLang="zh-CN" sz="2100" b="1" dirty="0" err="1">
                <a:latin typeface="Times New Roman" panose="02020603050405020304"/>
              </a:rPr>
              <a:t>Lagdera</a:t>
            </a:r>
            <a:r>
              <a:rPr lang="en-US" altLang="zh-CN" sz="2100" b="1" dirty="0">
                <a:latin typeface="Times New Roman" panose="02020603050405020304"/>
              </a:rPr>
              <a:t> Sub-County to administer questionnaires to students and teachers. Interviews will be conducted with parents and key informants such as </a:t>
            </a:r>
            <a:r>
              <a:rPr lang="en-US" altLang="zh-CN" sz="2100" b="1" dirty="0" err="1">
                <a:latin typeface="Times New Roman" panose="02020603050405020304"/>
              </a:rPr>
              <a:t>headteachers</a:t>
            </a:r>
            <a:r>
              <a:rPr lang="en-US" altLang="zh-CN" sz="2100" b="1" dirty="0">
                <a:latin typeface="Times New Roman" panose="02020603050405020304"/>
              </a:rPr>
              <a:t>. Data collection tools will be administered in-person to ensure high response rates and to provide clarification where needed. </a:t>
            </a:r>
            <a:r>
              <a:rPr lang="zh-CN" altLang="en-US" sz="2100" b="1" dirty="0">
                <a:latin typeface="Times New Roman" panose="02020603050405020304"/>
              </a:rPr>
              <a:t> </a:t>
            </a:r>
            <a:r>
              <a:rPr lang="en-US" altLang="zh-CN" sz="2100" b="1" dirty="0">
                <a:latin typeface="Times New Roman" panose="02020603050405020304"/>
              </a:rPr>
              <a:t>All participants will be assured of confidentiality, and informed consent will be obtained prior to participation.</a:t>
            </a:r>
            <a:endParaRPr lang="zh-CN" altLang="en-US" sz="2100" b="1" dirty="0">
              <a:latin typeface="Times New Roman" panose="02020603050405020304"/>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361487" cy="810126"/>
          </a:xfrm>
          <a:solidFill>
            <a:schemeClr val="bg1"/>
          </a:solidFill>
        </p:spPr>
        <p:txBody>
          <a:bodyPr>
            <a:normAutofit/>
          </a:bodyPr>
          <a:lstStyle/>
          <a:p>
            <a:r>
              <a:rPr lang="en-US" b="1" i="0" u="none" strike="noStrike" kern="2200" baseline="0" dirty="0" smtClean="0">
                <a:latin typeface="Times New Roman" panose="02020603050405020304"/>
              </a:rPr>
              <a:t>Ethical Considerations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0" y="658911"/>
            <a:ext cx="9361487" cy="4838938"/>
          </a:xfrm>
          <a:solidFill>
            <a:schemeClr val="bg1"/>
          </a:solidFill>
        </p:spPr>
        <p:txBody>
          <a:bodyPr>
            <a:normAutofit fontScale="77500" lnSpcReduction="20000"/>
          </a:bodyPr>
          <a:lstStyle/>
          <a:p>
            <a:r>
              <a:rPr lang="en-US" altLang="zh-CN" sz="3200" b="1" dirty="0">
                <a:latin typeface="Times New Roman" panose="02020603050405020304"/>
              </a:rPr>
              <a:t>This study will uphold strict ethical standards to protect the rights and welfare of all participants. Ethical clearance will be obtained from the relevant university ethics committee before the commencement of data collection. Informed consent will be sought from all participants, including assent from minors and consent from their parents</a:t>
            </a:r>
            <a:r>
              <a:rPr lang="zh-CN" altLang="en-US" sz="3200" b="1" dirty="0">
                <a:latin typeface="Times New Roman" panose="02020603050405020304"/>
              </a:rPr>
              <a:t> </a:t>
            </a:r>
            <a:r>
              <a:rPr lang="en-US" altLang="zh-CN" sz="3200" b="1" dirty="0">
                <a:latin typeface="Times New Roman" panose="02020603050405020304"/>
              </a:rPr>
              <a:t>or guardians.</a:t>
            </a:r>
            <a:endParaRPr lang="en-US" altLang="zh-CN" sz="3200" b="1" dirty="0">
              <a:latin typeface="Times New Roman" panose="02020603050405020304"/>
            </a:endParaRPr>
          </a:p>
          <a:p>
            <a:r>
              <a:rPr lang="en-US" altLang="zh-CN" sz="3200" b="1" dirty="0">
                <a:latin typeface="Times New Roman" panose="02020603050405020304"/>
              </a:rPr>
              <a:t>Every participant will learn about the study purpose together with their ability to leave at any moment while the collected information will remain confidential for academic use. All personal identifying details will be kept private to protect participant anonymity. The researcher will handle gender role and school dropout topics with care to maintain participant safety and respect during all stages of the study.</a:t>
            </a:r>
            <a:endParaRPr lang="en-US" altLang="zh-CN" sz="3200" b="1" dirty="0">
              <a:latin typeface="Times New Roman" panose="02020603050405020304"/>
            </a:endParaRPr>
          </a:p>
          <a:p>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7975"/>
            <a:ext cx="9361488" cy="810126"/>
          </a:xfrm>
          <a:solidFill>
            <a:schemeClr val="bg1"/>
          </a:solidFill>
        </p:spPr>
        <p:txBody>
          <a:bodyPr>
            <a:normAutofit/>
          </a:bodyPr>
          <a:lstStyle/>
          <a:p>
            <a:r>
              <a:rPr lang="en-US" b="1" i="0" u="none" strike="noStrike" kern="2200" baseline="0" dirty="0" smtClean="0">
                <a:latin typeface="Times New Roman" panose="02020603050405020304"/>
              </a:rPr>
              <a:t>Data Analysis Methods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0" y="684113"/>
            <a:ext cx="9361488" cy="4817373"/>
          </a:xfrm>
          <a:solidFill>
            <a:schemeClr val="bg1"/>
          </a:solidFill>
        </p:spPr>
        <p:txBody>
          <a:bodyPr>
            <a:normAutofit fontScale="85000" lnSpcReduction="20000"/>
          </a:bodyPr>
          <a:lstStyle/>
          <a:p>
            <a:r>
              <a:rPr lang="en-US" altLang="zh-CN" b="1" i="0" u="none" strike="noStrike" baseline="0" dirty="0" smtClean="0">
                <a:latin typeface="Times New Roman" panose="02020603050405020304"/>
              </a:rPr>
              <a:t>The data collected will be analyzed using both quantitative and qualitative techniques. Quantitative data from structured questionnaires will be coded and entered into the Statistical Package for the Social Sciences (SPSS) software. Descriptive statistics such as frequencies, percentages, means, and standard deviations will be used to summarize data. Inferential statistics such as chi-square tests and correlation analysis will be used to test relationships between domestic chores and girls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dropout rates. Qualitative data from interviews and open-ended questions</a:t>
            </a:r>
            <a:r>
              <a:rPr lang="zh-CN" altLang="en-US" b="1" i="0" u="none" strike="noStrike" baseline="0" dirty="0" smtClean="0">
                <a:latin typeface="Times New Roman" panose="02020603050405020304"/>
              </a:rPr>
              <a:t> </a:t>
            </a:r>
            <a:r>
              <a:rPr lang="en-US" altLang="zh-CN" b="1" i="0" u="none" strike="noStrike" baseline="0" dirty="0" smtClean="0">
                <a:latin typeface="Times New Roman" panose="02020603050405020304"/>
              </a:rPr>
              <a:t>will be analyzed thematically. Responses will be transcribed, categorized, and coded to identify recurring themes and patterns relevant to the research objectives.</a:t>
            </a:r>
            <a:endParaRPr lang="en-US" altLang="zh-CN" b="1" i="0" u="none" strike="noStrike" baseline="0" dirty="0" smtClean="0">
              <a:latin typeface="Times New Roman" panose="02020603050405020304"/>
            </a:endParaRPr>
          </a:p>
          <a:p>
            <a:r>
              <a:rPr lang="en-US" altLang="zh-CN" b="1" i="0" u="none" strike="noStrike" baseline="0" dirty="0" smtClean="0">
                <a:latin typeface="Times New Roman" panose="02020603050405020304"/>
              </a:rPr>
              <a:t>This mixed-methods approach will help in validating the findings and providing a more comprehensive understanding of the research problem.</a:t>
            </a:r>
            <a:endParaRPr lang="zh-CN" altLang="en-US"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361170" cy="622935"/>
          </a:xfrm>
          <a:solidFill>
            <a:schemeClr val="bg1"/>
          </a:solidFill>
        </p:spPr>
        <p:txBody>
          <a:bodyPr>
            <a:normAutofit fontScale="90000"/>
          </a:bodyPr>
          <a:lstStyle/>
          <a:p>
            <a:r>
              <a:rPr lang="en-US" b="1" i="0" u="none" strike="noStrike" kern="2200" baseline="0" dirty="0" smtClean="0">
                <a:latin typeface="Times New Roman" panose="02020603050405020304"/>
              </a:rPr>
              <a:t>References</a:t>
            </a:r>
            <a:endParaRPr lang="en-US" b="1" i="0" u="none" strike="noStrike" kern="2200" baseline="0" dirty="0" smtClean="0">
              <a:latin typeface="Times New Roman" panose="02020603050405020304"/>
            </a:endParaRPr>
          </a:p>
        </p:txBody>
      </p:sp>
      <p:sp>
        <p:nvSpPr>
          <p:cNvPr id="3" name="Text Placeholder 2"/>
          <p:cNvSpPr>
            <a:spLocks noGrp="1"/>
          </p:cNvSpPr>
          <p:nvPr>
            <p:ph type="body" idx="1"/>
          </p:nvPr>
        </p:nvSpPr>
        <p:spPr>
          <a:xfrm>
            <a:off x="-5080" y="548640"/>
            <a:ext cx="9341485" cy="5355590"/>
          </a:xfrm>
          <a:solidFill>
            <a:schemeClr val="bg1"/>
          </a:solidFill>
        </p:spPr>
        <p:txBody>
          <a:bodyPr>
            <a:noAutofit/>
          </a:bodyPr>
          <a:lstStyle/>
          <a:p>
            <a:r>
              <a:rPr lang="en-US" altLang="zh-CN" sz="1800" b="1" dirty="0" err="1">
                <a:latin typeface="Times New Roman" panose="02020603050405020304"/>
              </a:rPr>
              <a:t>Agengo</a:t>
            </a:r>
            <a:r>
              <a:rPr lang="en-US" altLang="zh-CN" sz="1800" b="1" dirty="0">
                <a:latin typeface="Times New Roman" panose="02020603050405020304"/>
              </a:rPr>
              <a:t>, J. O., &amp; </a:t>
            </a:r>
            <a:r>
              <a:rPr lang="en-US" altLang="zh-CN" sz="1800" b="1" dirty="0" err="1">
                <a:latin typeface="Times New Roman" panose="02020603050405020304"/>
              </a:rPr>
              <a:t>Mugisha</a:t>
            </a:r>
            <a:r>
              <a:rPr lang="en-US" altLang="zh-CN" sz="1800" b="1" dirty="0">
                <a:latin typeface="Times New Roman" panose="02020603050405020304"/>
              </a:rPr>
              <a:t>, F. (2025). Socio-cultural factors influencing girls</a:t>
            </a:r>
            <a:r>
              <a:rPr lang="zh-CN" altLang="en-US" sz="1800" b="1" dirty="0">
                <a:latin typeface="Times New Roman" panose="02020603050405020304"/>
              </a:rPr>
              <a:t>’ </a:t>
            </a:r>
            <a:r>
              <a:rPr lang="en-US" altLang="zh-CN" sz="1800" b="1" dirty="0">
                <a:latin typeface="Times New Roman" panose="02020603050405020304"/>
              </a:rPr>
              <a:t>school dropout in rural communities of </a:t>
            </a:r>
            <a:r>
              <a:rPr lang="en-US" altLang="zh-CN" sz="1800" b="1" dirty="0" err="1">
                <a:latin typeface="Times New Roman" panose="02020603050405020304"/>
              </a:rPr>
              <a:t>Kyamuhunga</a:t>
            </a:r>
            <a:r>
              <a:rPr lang="en-US" altLang="zh-CN" sz="1800" b="1" dirty="0">
                <a:latin typeface="Times New Roman" panose="02020603050405020304"/>
              </a:rPr>
              <a:t> District, Uganda. </a:t>
            </a:r>
            <a:r>
              <a:rPr lang="en-US" altLang="zh-CN" sz="1800" b="1" dirty="0" err="1">
                <a:latin typeface="Times New Roman" panose="02020603050405020304"/>
              </a:rPr>
              <a:t>Makerere</a:t>
            </a:r>
            <a:r>
              <a:rPr lang="en-US" altLang="zh-CN" sz="1800" b="1" dirty="0">
                <a:latin typeface="Times New Roman" panose="02020603050405020304"/>
              </a:rPr>
              <a:t> University.</a:t>
            </a:r>
            <a:endParaRPr lang="en-US" altLang="zh-CN" sz="1800" b="1" dirty="0">
              <a:latin typeface="Times New Roman" panose="02020603050405020304"/>
            </a:endParaRPr>
          </a:p>
          <a:p>
            <a:r>
              <a:rPr lang="en-US" altLang="zh-CN" sz="1800" b="1" dirty="0" err="1">
                <a:latin typeface="Times New Roman" panose="02020603050405020304"/>
              </a:rPr>
              <a:t>Bronfenbrenner</a:t>
            </a:r>
            <a:r>
              <a:rPr lang="en-US" altLang="zh-CN" sz="1800" b="1" dirty="0">
                <a:latin typeface="Times New Roman" panose="02020603050405020304"/>
              </a:rPr>
              <a:t>, U. (1979).</a:t>
            </a:r>
            <a:r>
              <a:rPr lang="zh-CN" altLang="en-US" sz="1800" b="1" dirty="0">
                <a:latin typeface="Times New Roman" panose="02020603050405020304"/>
              </a:rPr>
              <a:t> </a:t>
            </a:r>
            <a:r>
              <a:rPr lang="en-US" altLang="zh-CN" sz="1800" b="1" dirty="0">
                <a:latin typeface="Times New Roman" panose="02020603050405020304"/>
              </a:rPr>
              <a:t>The ecology of human development: Experiments by nature and design. Harvard University Press.</a:t>
            </a:r>
            <a:endParaRPr lang="en-US" altLang="zh-CN" sz="1800" b="1" dirty="0">
              <a:latin typeface="Times New Roman" panose="02020603050405020304"/>
            </a:endParaRPr>
          </a:p>
          <a:p>
            <a:r>
              <a:rPr lang="en-US" altLang="zh-CN" sz="1800" b="1" dirty="0" err="1">
                <a:latin typeface="Times New Roman" panose="02020603050405020304"/>
              </a:rPr>
              <a:t>Dagane</a:t>
            </a:r>
            <a:r>
              <a:rPr lang="en-US" altLang="zh-CN" sz="1800" b="1" dirty="0">
                <a:latin typeface="Times New Roman" panose="02020603050405020304"/>
              </a:rPr>
              <a:t>, A. M., &amp; Aden, H. A. (2021). Household responsibilities and school participation among girls in </a:t>
            </a:r>
            <a:r>
              <a:rPr lang="en-US" altLang="zh-CN" sz="1800" b="1" dirty="0" err="1">
                <a:latin typeface="Times New Roman" panose="02020603050405020304"/>
              </a:rPr>
              <a:t>Dadaab</a:t>
            </a:r>
            <a:r>
              <a:rPr lang="en-US" altLang="zh-CN" sz="1800" b="1" dirty="0">
                <a:latin typeface="Times New Roman" panose="02020603050405020304"/>
              </a:rPr>
              <a:t> refugee camps, Kenya. United Nations High Commissioner for Refugees (UNHCR).</a:t>
            </a:r>
            <a:endParaRPr lang="en-US" altLang="zh-CN" sz="1800" b="1" dirty="0">
              <a:latin typeface="Times New Roman" panose="02020603050405020304"/>
            </a:endParaRPr>
          </a:p>
          <a:p>
            <a:r>
              <a:rPr lang="en-US" altLang="zh-CN" sz="1800" b="1" dirty="0" err="1">
                <a:latin typeface="Times New Roman" panose="02020603050405020304"/>
              </a:rPr>
              <a:t>Eagly</a:t>
            </a:r>
            <a:r>
              <a:rPr lang="en-US" altLang="zh-CN" sz="1800" b="1" dirty="0">
                <a:latin typeface="Times New Roman" panose="02020603050405020304"/>
              </a:rPr>
              <a:t>, A. H., &amp; Wood, W. (1991). Explaining sex differences in social behavior: A meta-analytic perspective. Personality and Social Psychology Bulletin, 17(3), 306–315. https://doi.org/10.1177/0146167291173011</a:t>
            </a:r>
            <a:endParaRPr lang="en-US" altLang="zh-CN" sz="1800" b="1" dirty="0">
              <a:latin typeface="Times New Roman" panose="02020603050405020304"/>
            </a:endParaRPr>
          </a:p>
          <a:p>
            <a:r>
              <a:rPr lang="en-US" altLang="zh-CN" sz="1800" b="1" dirty="0">
                <a:latin typeface="Times New Roman" panose="02020603050405020304"/>
              </a:rPr>
              <a:t>Government of Kenya. (2010). The Constitution of Kenya (2010). Government Printer.</a:t>
            </a:r>
            <a:endParaRPr lang="en-US" altLang="zh-CN" sz="1800" b="1" dirty="0">
              <a:latin typeface="Times New Roman" panose="02020603050405020304"/>
            </a:endParaRPr>
          </a:p>
          <a:p>
            <a:r>
              <a:rPr lang="en-US" altLang="zh-CN" sz="1800" b="1" dirty="0">
                <a:latin typeface="Times New Roman" panose="02020603050405020304"/>
              </a:rPr>
              <a:t>Government of Kenya, Ministry of Education. (2015). Education and training sector gender policy. Government Printer.</a:t>
            </a:r>
            <a:endParaRPr lang="en-US" altLang="zh-CN" sz="1800" b="1" dirty="0">
              <a:latin typeface="Times New Roman" panose="02020603050405020304"/>
            </a:endParaRPr>
          </a:p>
          <a:p>
            <a:r>
              <a:rPr lang="en-US" altLang="zh-CN" sz="1800" b="1" dirty="0">
                <a:latin typeface="Times New Roman" panose="02020603050405020304"/>
              </a:rPr>
              <a:t>Government of Kenya, Ministry of </a:t>
            </a:r>
            <a:r>
              <a:rPr lang="en-US" altLang="zh-CN" sz="1800" b="1" dirty="0" err="1">
                <a:latin typeface="Times New Roman" panose="02020603050405020304"/>
              </a:rPr>
              <a:t>Labour</a:t>
            </a:r>
            <a:r>
              <a:rPr lang="en-US" altLang="zh-CN" sz="1800" b="1" dirty="0">
                <a:latin typeface="Times New Roman" panose="02020603050405020304"/>
              </a:rPr>
              <a:t> and Social Protection. (2017). National child </a:t>
            </a:r>
            <a:r>
              <a:rPr lang="en-US" altLang="zh-CN" sz="1800" b="1" dirty="0" err="1">
                <a:latin typeface="Times New Roman" panose="02020603050405020304"/>
              </a:rPr>
              <a:t>labour</a:t>
            </a:r>
            <a:r>
              <a:rPr lang="en-US" altLang="zh-CN" sz="1800" b="1" dirty="0">
                <a:latin typeface="Times New Roman" panose="02020603050405020304"/>
              </a:rPr>
              <a:t> policy. Government Printer.</a:t>
            </a:r>
            <a:endParaRPr lang="en-US" altLang="zh-CN" sz="1800" b="1" dirty="0">
              <a:latin typeface="Times New Roman" panose="02020603050405020304"/>
            </a:endParaRPr>
          </a:p>
          <a:p>
            <a:r>
              <a:rPr lang="en-US" altLang="zh-CN" sz="1800" b="1" dirty="0" err="1">
                <a:latin typeface="Times New Roman" panose="02020603050405020304"/>
              </a:rPr>
              <a:t>Nyamweya</a:t>
            </a:r>
            <a:r>
              <a:rPr lang="en-US" altLang="zh-CN" sz="1800" b="1" dirty="0">
                <a:latin typeface="Times New Roman" panose="02020603050405020304"/>
              </a:rPr>
              <a:t>, J. O. (2012). Factors influencing girls</a:t>
            </a:r>
            <a:r>
              <a:rPr lang="zh-CN" altLang="en-US" sz="1800" b="1" dirty="0">
                <a:latin typeface="Times New Roman" panose="02020603050405020304"/>
              </a:rPr>
              <a:t>’ </a:t>
            </a:r>
            <a:r>
              <a:rPr lang="en-US" altLang="zh-CN" sz="1800" b="1" dirty="0">
                <a:latin typeface="Times New Roman" panose="02020603050405020304"/>
              </a:rPr>
              <a:t>participation in secondary education in </a:t>
            </a:r>
            <a:r>
              <a:rPr lang="en-US" altLang="zh-CN" sz="1800" b="1" dirty="0" err="1">
                <a:latin typeface="Times New Roman" panose="02020603050405020304"/>
              </a:rPr>
              <a:t>Kajiado</a:t>
            </a:r>
            <a:r>
              <a:rPr lang="en-US" altLang="zh-CN" sz="1800" b="1" dirty="0">
                <a:latin typeface="Times New Roman" panose="02020603050405020304"/>
              </a:rPr>
              <a:t> North District, Kenya (Unpublished master</a:t>
            </a:r>
            <a:r>
              <a:rPr lang="zh-CN" altLang="en-US" sz="1800" b="1" dirty="0">
                <a:latin typeface="Times New Roman" panose="02020603050405020304"/>
              </a:rPr>
              <a:t>’</a:t>
            </a:r>
            <a:r>
              <a:rPr lang="en-US" altLang="zh-CN" sz="1800" b="1" dirty="0">
                <a:latin typeface="Times New Roman" panose="02020603050405020304"/>
              </a:rPr>
              <a:t>s thesis). University of Nairobi.</a:t>
            </a:r>
            <a:endParaRPr lang="en-US" altLang="zh-CN" sz="1800" b="1" dirty="0">
              <a:latin typeface="Times New Roman" panose="02020603050405020304"/>
            </a:endParaRPr>
          </a:p>
          <a:p>
            <a:r>
              <a:rPr lang="en-US" altLang="zh-CN" sz="1800" b="1" dirty="0">
                <a:latin typeface="Times New Roman" panose="02020603050405020304"/>
              </a:rPr>
              <a:t>UNICEF. (2020). Girls</a:t>
            </a:r>
            <a:r>
              <a:rPr lang="zh-CN" altLang="en-US" sz="1800" b="1" dirty="0">
                <a:latin typeface="Times New Roman" panose="02020603050405020304"/>
              </a:rPr>
              <a:t>’ </a:t>
            </a:r>
            <a:r>
              <a:rPr lang="en-US" altLang="zh-CN" sz="1800" b="1" dirty="0">
                <a:latin typeface="Times New Roman" panose="02020603050405020304"/>
              </a:rPr>
              <a:t>education and gender equality in education. United Nations Children</a:t>
            </a:r>
            <a:r>
              <a:rPr lang="zh-CN" altLang="en-US" sz="1800" b="1" dirty="0">
                <a:latin typeface="Times New Roman" panose="02020603050405020304"/>
              </a:rPr>
              <a:t>’</a:t>
            </a:r>
            <a:r>
              <a:rPr lang="en-US" altLang="zh-CN" sz="1800" b="1" dirty="0">
                <a:latin typeface="Times New Roman" panose="02020603050405020304"/>
              </a:rPr>
              <a:t>s Fund.</a:t>
            </a:r>
            <a:endParaRPr lang="en-US" altLang="zh-CN" sz="1800" b="1" dirty="0">
              <a:latin typeface="Times New Roman" panose="02020603050405020304"/>
            </a:endParaRPr>
          </a:p>
          <a:p>
            <a:r>
              <a:rPr lang="en-US" altLang="zh-CN" sz="1800" b="1" dirty="0">
                <a:latin typeface="Times New Roman" panose="02020603050405020304"/>
              </a:rPr>
              <a:t>World Bank. (2018). Education and gender equality in Sub-Saharan Africa. World Bank Publications.</a:t>
            </a:r>
            <a:endParaRPr lang="en-US" altLang="zh-CN" sz="1800" b="1" dirty="0">
              <a:latin typeface="Times New Roman" panose="02020603050405020304"/>
            </a:endParaRPr>
          </a:p>
          <a:p>
            <a:r>
              <a:rPr lang="en-US" altLang="zh-CN" sz="1800" b="1" dirty="0">
                <a:latin typeface="Times New Roman" panose="02020603050405020304"/>
              </a:rPr>
              <a:t>Yamane, T. (1967). Statistics: An introductory analysis (2nd ed.). Harper &amp; Row.</a:t>
            </a:r>
            <a:endParaRPr lang="en-US" altLang="zh-CN" sz="1800" b="1" dirty="0">
              <a:latin typeface="Times New Roman" panose="02020603050405020304"/>
            </a:endParaRPr>
          </a:p>
          <a:p>
            <a:endParaRPr lang="en-US" altLang="zh-CN" sz="1800" b="1" i="0" u="none" strike="noStrike" baseline="0" dirty="0" smtClean="0">
              <a:latin typeface="Times New Roman" panose="02020603050405020304"/>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0"/>
            <a:ext cx="9361487" cy="5364633"/>
          </a:xfrm>
          <a:solidFill>
            <a:schemeClr val="bg1"/>
          </a:solidFill>
        </p:spPr>
        <p:txBody>
          <a:bodyPr/>
          <a:lstStyle/>
          <a:p>
            <a:pPr marL="141605" indent="0" algn="ctr">
              <a:buNone/>
            </a:pPr>
            <a:endParaRPr lang="en-US" dirty="0" smtClean="0"/>
          </a:p>
          <a:p>
            <a:pPr marL="141605" indent="0" algn="ctr">
              <a:buNone/>
            </a:pPr>
            <a:endParaRPr lang="en-US" dirty="0" smtClean="0"/>
          </a:p>
          <a:p>
            <a:pPr marL="141605" indent="0" algn="ctr">
              <a:buNone/>
            </a:pPr>
            <a:endParaRPr lang="en-US" sz="4500" dirty="0"/>
          </a:p>
          <a:p>
            <a:pPr marL="141605" indent="0" algn="ctr">
              <a:buNone/>
            </a:pPr>
            <a:r>
              <a:rPr lang="en-US" sz="4500" dirty="0"/>
              <a:t>THANK YOU!</a:t>
            </a:r>
            <a:endParaRPr lang="en-US" sz="45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Apex</Template>
  <TotalTime>0</TotalTime>
  <Words>27420</Words>
  <Application>WPS Presentation</Application>
  <PresentationFormat>Custom</PresentationFormat>
  <Paragraphs>227</Paragraphs>
  <Slides>33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33</vt:i4>
      </vt:variant>
    </vt:vector>
  </HeadingPairs>
  <TitlesOfParts>
    <vt:vector size="49" baseType="lpstr">
      <vt:lpstr>Arial</vt:lpstr>
      <vt:lpstr>SimSun</vt:lpstr>
      <vt:lpstr>Wingdings</vt:lpstr>
      <vt:lpstr>Wingdings 2</vt:lpstr>
      <vt:lpstr>Wingdings</vt:lpstr>
      <vt:lpstr>Wingdings 3</vt:lpstr>
      <vt:lpstr>Times New Roman</vt:lpstr>
      <vt:lpstr>Book Antiqua</vt:lpstr>
      <vt:lpstr>Microsoft YaHei</vt:lpstr>
      <vt:lpstr>Arial Unicode MS</vt:lpstr>
      <vt:lpstr>Lucida Sans</vt:lpstr>
      <vt:lpstr>Calibri</vt:lpstr>
      <vt:lpstr>Cambria Math</vt:lpstr>
      <vt:lpstr>黑体</vt:lpstr>
      <vt:lpstr>Times New Roman</vt:lpstr>
      <vt:lpstr>Apex</vt:lpstr>
      <vt:lpstr>PowerPoint 演示文稿</vt:lpstr>
      <vt:lpstr> A CONCEPT PAPER SUBMITTED TO THE SCHOOL OF EDUCATON, ARTS AND SOCIAL SCIENCES AS PART       OF THE REQUIREMENTS FOR THE CONFERMENT OF  DEGREE OF MASTER OF EDUCATION IN  CURRICULUM STUDIES, GARISSA UNIVERSITY      FEBRUARY, 2026 </vt:lpstr>
      <vt:lpstr>           Introduction</vt:lpstr>
      <vt:lpstr>Background to the Study</vt:lpstr>
      <vt:lpstr>Statement of the Problem</vt:lpstr>
      <vt:lpstr>Purpose of the Study</vt:lpstr>
      <vt:lpstr>Objectives of the Study</vt:lpstr>
      <vt:lpstr>Research Questions</vt:lpstr>
      <vt:lpstr>Research Hypotheses (Null Hypotheses)</vt:lpstr>
      <vt:lpstr>Significance of the Study</vt:lpstr>
      <vt:lpstr>Assumptions</vt:lpstr>
      <vt:lpstr>Limitations</vt:lpstr>
      <vt:lpstr>Delimitation</vt:lpstr>
      <vt:lpstr>Literature Review</vt:lpstr>
      <vt:lpstr>Theoretical Framework</vt:lpstr>
      <vt:lpstr>Conceptual Framework</vt:lpstr>
      <vt:lpstr>Research Methodology</vt:lpstr>
      <vt:lpstr>Research Design</vt:lpstr>
      <vt:lpstr>Location of the Study</vt:lpstr>
      <vt:lpstr>Population of the Study (Target Population)</vt:lpstr>
      <vt:lpstr>Sampling Procedure</vt:lpstr>
      <vt:lpstr>The Sample Size</vt:lpstr>
      <vt:lpstr>Instrumentation</vt:lpstr>
      <vt:lpstr>Questionnaires:</vt:lpstr>
      <vt:lpstr>Interview Schedules:</vt:lpstr>
      <vt:lpstr>Document Analysis Guide:</vt:lpstr>
      <vt:lpstr>Assessment and Performance reports</vt:lpstr>
      <vt:lpstr>Validity and reliability of Instruments</vt:lpstr>
      <vt:lpstr>Data Collection Procedure</vt:lpstr>
      <vt:lpstr>Ethical Considerations</vt:lpstr>
      <vt:lpstr>Data Analysis Methods</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DOMESTIC CHORES AND GIRLS’ DROPOUT RATE IN PUBLIC JUNIOR SCHOOLS IN LAGDERA SUB-COUNTY, KENYA.</dc:title>
  <dc:creator>user</dc:creator>
  <cp:lastModifiedBy>BOSONGOKISII TV</cp:lastModifiedBy>
  <cp:revision>54</cp:revision>
  <dcterms:created xsi:type="dcterms:W3CDTF">2026-02-22T09:39:00Z</dcterms:created>
  <dcterms:modified xsi:type="dcterms:W3CDTF">2026-02-23T05:34:32Z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BD672623EB9D4D27B091C7B0F2AD97CE_12</vt:lpwstr>
  </property>
  <property fmtid="{D5CDD505-2E9C-101B-9397-08002B2CF9AE}" pid="3" name="KSOProductBuildVer">
    <vt:lpwstr>2057-12.2.0.21931</vt:lpwstr>
  </property>
</Properties>
</file>